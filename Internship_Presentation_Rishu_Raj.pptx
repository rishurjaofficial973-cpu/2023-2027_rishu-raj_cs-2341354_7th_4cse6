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351215" y="0"/>
            <a:ext cx="3840480" cy="6858000"/>
          </a:xfrm>
          <a:prstGeom prst="rect">
            <a:avLst/>
          </a:prstGeom>
          <a:solidFill>
            <a:srgbClr val="EAF1FA"/>
          </a:solidFill>
          <a:ln/>
        </p:spPr>
      </p:sp>
      <p:sp>
        <p:nvSpPr>
          <p:cNvPr id="3" name="Shape 1"/>
          <p:cNvSpPr/>
          <p:nvPr/>
        </p:nvSpPr>
        <p:spPr>
          <a:xfrm>
            <a:off x="868680" y="640080"/>
            <a:ext cx="1051560" cy="1051560"/>
          </a:xfrm>
          <a:prstGeom prst="ellipse">
            <a:avLst/>
          </a:prstGeom>
          <a:solidFill>
            <a:srgbClr val="1B3A6B"/>
          </a:solidFill>
          <a:ln w="19050">
            <a:solidFill>
              <a:srgbClr val="1791A6"/>
            </a:solidFill>
            <a:prstDash val="solid"/>
          </a:ln>
        </p:spPr>
      </p:sp>
      <p:sp>
        <p:nvSpPr>
          <p:cNvPr id="4" name="Text 2"/>
          <p:cNvSpPr/>
          <p:nvPr/>
        </p:nvSpPr>
        <p:spPr>
          <a:xfrm>
            <a:off x="868680" y="640080"/>
            <a:ext cx="105156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IILM</a:t>
            </a:r>
            <a:endParaRPr lang="en-US" sz="1700" dirty="0"/>
          </a:p>
        </p:txBody>
      </p:sp>
      <p:sp>
        <p:nvSpPr>
          <p:cNvPr id="5" name="Text 3"/>
          <p:cNvSpPr/>
          <p:nvPr/>
        </p:nvSpPr>
        <p:spPr>
          <a:xfrm>
            <a:off x="2176272" y="713232"/>
            <a:ext cx="6035040" cy="457200"/>
          </a:xfrm>
          <a:prstGeom prst="rect">
            <a:avLst/>
          </a:prstGeom>
          <a:noFill/>
          <a:ln/>
        </p:spPr>
        <p:txBody>
          <a:bodyPr wrap="square" lIns="0" tIns="0" rIns="0" bIns="0" rtlCol="0" anchor="ctr"/>
          <a:lstStyle/>
          <a:p>
            <a:pPr indent="0" marL="0">
              <a:buNone/>
            </a:pPr>
            <a:r>
              <a:rPr lang="en-US" sz="2400" b="1" dirty="0">
                <a:solidFill>
                  <a:srgbClr val="12294D"/>
                </a:solidFill>
                <a:latin typeface="Cambria" pitchFamily="34" charset="0"/>
                <a:ea typeface="Cambria" pitchFamily="34" charset="-122"/>
                <a:cs typeface="Cambria" pitchFamily="34" charset="-120"/>
              </a:rPr>
              <a:t>IILM UNIVERSITY</a:t>
            </a:r>
            <a:endParaRPr lang="en-US" sz="2400" dirty="0"/>
          </a:p>
        </p:txBody>
      </p:sp>
      <p:sp>
        <p:nvSpPr>
          <p:cNvPr id="6" name="Text 4"/>
          <p:cNvSpPr/>
          <p:nvPr/>
        </p:nvSpPr>
        <p:spPr>
          <a:xfrm>
            <a:off x="2176272" y="1170432"/>
            <a:ext cx="6126480" cy="365760"/>
          </a:xfrm>
          <a:prstGeom prst="rect">
            <a:avLst/>
          </a:prstGeom>
          <a:noFill/>
          <a:ln/>
        </p:spPr>
        <p:txBody>
          <a:bodyPr wrap="square" lIns="0" tIns="0" rIns="0" bIns="0" rtlCol="0" anchor="ctr"/>
          <a:lstStyle/>
          <a:p>
            <a:pPr indent="0" marL="0">
              <a:buNone/>
            </a:pPr>
            <a:r>
              <a:rPr lang="en-US" sz="1200" dirty="0">
                <a:solidFill>
                  <a:srgbClr val="50606E"/>
                </a:solidFill>
                <a:latin typeface="Calibri" pitchFamily="34" charset="0"/>
                <a:ea typeface="Calibri" pitchFamily="34" charset="-122"/>
                <a:cs typeface="Calibri" pitchFamily="34" charset="-120"/>
              </a:rPr>
              <a:t>Greater Noida, Uttar Pradesh  |  School of Computer Science and Engineering</a:t>
            </a:r>
            <a:endParaRPr lang="en-US" sz="1200" dirty="0"/>
          </a:p>
        </p:txBody>
      </p:sp>
      <p:sp>
        <p:nvSpPr>
          <p:cNvPr id="7" name="Text 5"/>
          <p:cNvSpPr/>
          <p:nvPr/>
        </p:nvSpPr>
        <p:spPr>
          <a:xfrm>
            <a:off x="868680" y="2331720"/>
            <a:ext cx="6949440" cy="457200"/>
          </a:xfrm>
          <a:prstGeom prst="rect">
            <a:avLst/>
          </a:prstGeom>
          <a:noFill/>
          <a:ln/>
        </p:spPr>
        <p:txBody>
          <a:bodyPr wrap="square" lIns="0" tIns="0" rIns="0" bIns="0" rtlCol="0" anchor="ctr"/>
          <a:lstStyle/>
          <a:p>
            <a:pPr indent="0" marL="0">
              <a:buNone/>
            </a:pPr>
            <a:r>
              <a:rPr lang="en-US" sz="1500" b="1" dirty="0">
                <a:solidFill>
                  <a:srgbClr val="1791A6"/>
                </a:solidFill>
                <a:latin typeface="Calibri" pitchFamily="34" charset="0"/>
                <a:ea typeface="Calibri" pitchFamily="34" charset="-122"/>
                <a:cs typeface="Calibri" pitchFamily="34" charset="-120"/>
              </a:rPr>
              <a:t>Internship Evaluation Presentation</a:t>
            </a:r>
            <a:endParaRPr lang="en-US" sz="1500" dirty="0"/>
          </a:p>
        </p:txBody>
      </p:sp>
      <p:sp>
        <p:nvSpPr>
          <p:cNvPr id="8" name="Text 6"/>
          <p:cNvSpPr/>
          <p:nvPr/>
        </p:nvSpPr>
        <p:spPr>
          <a:xfrm>
            <a:off x="868680" y="2743200"/>
            <a:ext cx="7223760" cy="960120"/>
          </a:xfrm>
          <a:prstGeom prst="rect">
            <a:avLst/>
          </a:prstGeom>
          <a:noFill/>
          <a:ln/>
        </p:spPr>
        <p:txBody>
          <a:bodyPr wrap="square" lIns="0" tIns="0" rIns="0" bIns="0" rtlCol="0" anchor="ctr"/>
          <a:lstStyle/>
          <a:p>
            <a:pPr indent="0" marL="0">
              <a:buNone/>
            </a:pPr>
            <a:r>
              <a:rPr lang="en-US" sz="4800" b="1" dirty="0">
                <a:solidFill>
                  <a:srgbClr val="12294D"/>
                </a:solidFill>
                <a:latin typeface="Cambria" pitchFamily="34" charset="0"/>
                <a:ea typeface="Cambria" pitchFamily="34" charset="-122"/>
                <a:cs typeface="Cambria" pitchFamily="34" charset="-120"/>
              </a:rPr>
              <a:t>LeadOne 2.0</a:t>
            </a:r>
            <a:endParaRPr lang="en-US" sz="4800" dirty="0"/>
          </a:p>
        </p:txBody>
      </p:sp>
      <p:sp>
        <p:nvSpPr>
          <p:cNvPr id="9" name="Text 7"/>
          <p:cNvSpPr/>
          <p:nvPr/>
        </p:nvSpPr>
        <p:spPr>
          <a:xfrm>
            <a:off x="868680" y="3611880"/>
            <a:ext cx="7040880" cy="594360"/>
          </a:xfrm>
          <a:prstGeom prst="rect">
            <a:avLst/>
          </a:prstGeom>
          <a:noFill/>
          <a:ln/>
        </p:spPr>
        <p:txBody>
          <a:bodyPr wrap="square" lIns="0" tIns="0" rIns="0" bIns="0" rtlCol="0" anchor="ctr"/>
          <a:lstStyle/>
          <a:p>
            <a:pPr indent="0" marL="0">
              <a:buNone/>
            </a:pPr>
            <a:r>
              <a:rPr lang="en-US" sz="1550" i="1" dirty="0">
                <a:solidFill>
                  <a:srgbClr val="50606E"/>
                </a:solidFill>
                <a:latin typeface="Calibri" pitchFamily="34" charset="0"/>
                <a:ea typeface="Calibri" pitchFamily="34" charset="-122"/>
                <a:cs typeface="Calibri" pitchFamily="34" charset="-120"/>
              </a:rPr>
              <a:t>Enterprise Lead Management System, CRM &amp; Cloud Telephony Platform</a:t>
            </a:r>
            <a:endParaRPr lang="en-US" sz="1550" dirty="0"/>
          </a:p>
        </p:txBody>
      </p:sp>
      <p:sp>
        <p:nvSpPr>
          <p:cNvPr id="10" name="Shape 8"/>
          <p:cNvSpPr/>
          <p:nvPr/>
        </p:nvSpPr>
        <p:spPr>
          <a:xfrm>
            <a:off x="886968" y="4315968"/>
            <a:ext cx="3291840" cy="0"/>
          </a:xfrm>
          <a:prstGeom prst="line">
            <a:avLst/>
          </a:prstGeom>
          <a:noFill/>
          <a:ln w="25400">
            <a:solidFill>
              <a:srgbClr val="1791A6"/>
            </a:solidFill>
            <a:prstDash val="solid"/>
          </a:ln>
        </p:spPr>
      </p:sp>
      <p:sp>
        <p:nvSpPr>
          <p:cNvPr id="11" name="Text 9"/>
          <p:cNvSpPr/>
          <p:nvPr/>
        </p:nvSpPr>
        <p:spPr>
          <a:xfrm>
            <a:off x="886968" y="4526280"/>
            <a:ext cx="2377440" cy="292608"/>
          </a:xfrm>
          <a:prstGeom prst="rect">
            <a:avLst/>
          </a:prstGeom>
          <a:noFill/>
          <a:ln/>
        </p:spPr>
        <p:txBody>
          <a:bodyPr wrap="square" lIns="0" tIns="0" rIns="0" bIns="0" rtlCol="0" anchor="ctr"/>
          <a:lstStyle/>
          <a:p>
            <a:pPr indent="0" marL="0">
              <a:buNone/>
            </a:pPr>
            <a:r>
              <a:rPr lang="en-US" sz="1050" b="1" dirty="0">
                <a:solidFill>
                  <a:srgbClr val="1791A6"/>
                </a:solidFill>
                <a:latin typeface="Calibri" pitchFamily="34" charset="0"/>
                <a:ea typeface="Calibri" pitchFamily="34" charset="-122"/>
                <a:cs typeface="Calibri" pitchFamily="34" charset="-120"/>
              </a:rPr>
              <a:t>STUDENT NAME</a:t>
            </a:r>
            <a:endParaRPr lang="en-US" sz="1050" dirty="0"/>
          </a:p>
        </p:txBody>
      </p:sp>
      <p:sp>
        <p:nvSpPr>
          <p:cNvPr id="12" name="Text 10"/>
          <p:cNvSpPr/>
          <p:nvPr/>
        </p:nvSpPr>
        <p:spPr>
          <a:xfrm>
            <a:off x="3246120" y="4526280"/>
            <a:ext cx="4480560" cy="292608"/>
          </a:xfrm>
          <a:prstGeom prst="rect">
            <a:avLst/>
          </a:prstGeom>
          <a:noFill/>
          <a:ln/>
        </p:spPr>
        <p:txBody>
          <a:bodyPr wrap="square" lIns="0" tIns="0" rIns="0" bIns="0" rtlCol="0" anchor="ctr"/>
          <a:lstStyle/>
          <a:p>
            <a:pPr indent="0" marL="0">
              <a:buNone/>
            </a:pPr>
            <a:r>
              <a:rPr lang="en-US" sz="1250" dirty="0">
                <a:solidFill>
                  <a:srgbClr val="12294D"/>
                </a:solidFill>
                <a:latin typeface="Calibri" pitchFamily="34" charset="0"/>
                <a:ea typeface="Calibri" pitchFamily="34" charset="-122"/>
                <a:cs typeface="Calibri" pitchFamily="34" charset="-120"/>
              </a:rPr>
              <a:t>Rishu Raj</a:t>
            </a:r>
            <a:endParaRPr lang="en-US" sz="1250" dirty="0"/>
          </a:p>
        </p:txBody>
      </p:sp>
      <p:sp>
        <p:nvSpPr>
          <p:cNvPr id="13" name="Text 11"/>
          <p:cNvSpPr/>
          <p:nvPr/>
        </p:nvSpPr>
        <p:spPr>
          <a:xfrm>
            <a:off x="886968" y="4910328"/>
            <a:ext cx="2377440" cy="292608"/>
          </a:xfrm>
          <a:prstGeom prst="rect">
            <a:avLst/>
          </a:prstGeom>
          <a:noFill/>
          <a:ln/>
        </p:spPr>
        <p:txBody>
          <a:bodyPr wrap="square" lIns="0" tIns="0" rIns="0" bIns="0" rtlCol="0" anchor="ctr"/>
          <a:lstStyle/>
          <a:p>
            <a:pPr indent="0" marL="0">
              <a:buNone/>
            </a:pPr>
            <a:r>
              <a:rPr lang="en-US" sz="1050" b="1" dirty="0">
                <a:solidFill>
                  <a:srgbClr val="1791A6"/>
                </a:solidFill>
                <a:latin typeface="Calibri" pitchFamily="34" charset="0"/>
                <a:ea typeface="Calibri" pitchFamily="34" charset="-122"/>
                <a:cs typeface="Calibri" pitchFamily="34" charset="-120"/>
              </a:rPr>
              <a:t>ENROLLMENT NUMBER</a:t>
            </a:r>
            <a:endParaRPr lang="en-US" sz="1050" dirty="0"/>
          </a:p>
        </p:txBody>
      </p:sp>
      <p:sp>
        <p:nvSpPr>
          <p:cNvPr id="14" name="Text 12"/>
          <p:cNvSpPr/>
          <p:nvPr/>
        </p:nvSpPr>
        <p:spPr>
          <a:xfrm>
            <a:off x="3246120" y="4910328"/>
            <a:ext cx="4480560" cy="292608"/>
          </a:xfrm>
          <a:prstGeom prst="rect">
            <a:avLst/>
          </a:prstGeom>
          <a:noFill/>
          <a:ln/>
        </p:spPr>
        <p:txBody>
          <a:bodyPr wrap="square" lIns="0" tIns="0" rIns="0" bIns="0" rtlCol="0" anchor="ctr"/>
          <a:lstStyle/>
          <a:p>
            <a:pPr indent="0" marL="0">
              <a:buNone/>
            </a:pPr>
            <a:r>
              <a:rPr lang="en-US" sz="1250" dirty="0">
                <a:solidFill>
                  <a:srgbClr val="12294D"/>
                </a:solidFill>
                <a:latin typeface="Calibri" pitchFamily="34" charset="0"/>
                <a:ea typeface="Calibri" pitchFamily="34" charset="-122"/>
                <a:cs typeface="Calibri" pitchFamily="34" charset="-120"/>
              </a:rPr>
              <a:t>CS-2341354</a:t>
            </a:r>
            <a:endParaRPr lang="en-US" sz="1250" dirty="0"/>
          </a:p>
        </p:txBody>
      </p:sp>
      <p:sp>
        <p:nvSpPr>
          <p:cNvPr id="15" name="Text 13"/>
          <p:cNvSpPr/>
          <p:nvPr/>
        </p:nvSpPr>
        <p:spPr>
          <a:xfrm>
            <a:off x="886968" y="5294376"/>
            <a:ext cx="2377440" cy="292608"/>
          </a:xfrm>
          <a:prstGeom prst="rect">
            <a:avLst/>
          </a:prstGeom>
          <a:noFill/>
          <a:ln/>
        </p:spPr>
        <p:txBody>
          <a:bodyPr wrap="square" lIns="0" tIns="0" rIns="0" bIns="0" rtlCol="0" anchor="ctr"/>
          <a:lstStyle/>
          <a:p>
            <a:pPr indent="0" marL="0">
              <a:buNone/>
            </a:pPr>
            <a:r>
              <a:rPr lang="en-US" sz="1050" b="1" dirty="0">
                <a:solidFill>
                  <a:srgbClr val="1791A6"/>
                </a:solidFill>
                <a:latin typeface="Calibri" pitchFamily="34" charset="0"/>
                <a:ea typeface="Calibri" pitchFamily="34" charset="-122"/>
                <a:cs typeface="Calibri" pitchFamily="34" charset="-120"/>
              </a:rPr>
              <a:t>PROGRAM &amp; SEMESTER</a:t>
            </a:r>
            <a:endParaRPr lang="en-US" sz="1050" dirty="0"/>
          </a:p>
        </p:txBody>
      </p:sp>
      <p:sp>
        <p:nvSpPr>
          <p:cNvPr id="16" name="Text 14"/>
          <p:cNvSpPr/>
          <p:nvPr/>
        </p:nvSpPr>
        <p:spPr>
          <a:xfrm>
            <a:off x="3246120" y="5294376"/>
            <a:ext cx="4480560" cy="292608"/>
          </a:xfrm>
          <a:prstGeom prst="rect">
            <a:avLst/>
          </a:prstGeom>
          <a:noFill/>
          <a:ln/>
        </p:spPr>
        <p:txBody>
          <a:bodyPr wrap="square" lIns="0" tIns="0" rIns="0" bIns="0" rtlCol="0" anchor="ctr"/>
          <a:lstStyle/>
          <a:p>
            <a:pPr indent="0" marL="0">
              <a:buNone/>
            </a:pPr>
            <a:r>
              <a:rPr lang="en-US" sz="1250" dirty="0">
                <a:solidFill>
                  <a:srgbClr val="12294D"/>
                </a:solidFill>
                <a:latin typeface="Calibri" pitchFamily="34" charset="0"/>
                <a:ea typeface="Calibri" pitchFamily="34" charset="-122"/>
                <a:cs typeface="Calibri" pitchFamily="34" charset="-120"/>
              </a:rPr>
              <a:t>B.Tech CSE  |  7th Semester (Batch 2023 – 2027)</a:t>
            </a:r>
            <a:endParaRPr lang="en-US" sz="1250" dirty="0"/>
          </a:p>
        </p:txBody>
      </p:sp>
      <p:sp>
        <p:nvSpPr>
          <p:cNvPr id="17" name="Text 15"/>
          <p:cNvSpPr/>
          <p:nvPr/>
        </p:nvSpPr>
        <p:spPr>
          <a:xfrm>
            <a:off x="886968" y="5678424"/>
            <a:ext cx="2377440" cy="292608"/>
          </a:xfrm>
          <a:prstGeom prst="rect">
            <a:avLst/>
          </a:prstGeom>
          <a:noFill/>
          <a:ln/>
        </p:spPr>
        <p:txBody>
          <a:bodyPr wrap="square" lIns="0" tIns="0" rIns="0" bIns="0" rtlCol="0" anchor="ctr"/>
          <a:lstStyle/>
          <a:p>
            <a:pPr indent="0" marL="0">
              <a:buNone/>
            </a:pPr>
            <a:r>
              <a:rPr lang="en-US" sz="1050" b="1" dirty="0">
                <a:solidFill>
                  <a:srgbClr val="1791A6"/>
                </a:solidFill>
                <a:latin typeface="Calibri" pitchFamily="34" charset="0"/>
                <a:ea typeface="Calibri" pitchFamily="34" charset="-122"/>
                <a:cs typeface="Calibri" pitchFamily="34" charset="-120"/>
              </a:rPr>
              <a:t>ORGANIZATION</a:t>
            </a:r>
            <a:endParaRPr lang="en-US" sz="1050" dirty="0"/>
          </a:p>
        </p:txBody>
      </p:sp>
      <p:sp>
        <p:nvSpPr>
          <p:cNvPr id="18" name="Text 16"/>
          <p:cNvSpPr/>
          <p:nvPr/>
        </p:nvSpPr>
        <p:spPr>
          <a:xfrm>
            <a:off x="3246120" y="5678424"/>
            <a:ext cx="4480560" cy="292608"/>
          </a:xfrm>
          <a:prstGeom prst="rect">
            <a:avLst/>
          </a:prstGeom>
          <a:noFill/>
          <a:ln/>
        </p:spPr>
        <p:txBody>
          <a:bodyPr wrap="square" lIns="0" tIns="0" rIns="0" bIns="0" rtlCol="0" anchor="ctr"/>
          <a:lstStyle/>
          <a:p>
            <a:pPr indent="0" marL="0">
              <a:buNone/>
            </a:pPr>
            <a:r>
              <a:rPr lang="en-US" sz="1250" dirty="0">
                <a:solidFill>
                  <a:srgbClr val="12294D"/>
                </a:solidFill>
                <a:latin typeface="Calibri" pitchFamily="34" charset="0"/>
                <a:ea typeface="Calibri" pitchFamily="34" charset="-122"/>
                <a:cs typeface="Calibri" pitchFamily="34" charset="-120"/>
              </a:rPr>
              <a:t>FinZ</a:t>
            </a:r>
            <a:endParaRPr lang="en-US" sz="1250" dirty="0"/>
          </a:p>
        </p:txBody>
      </p:sp>
      <p:sp>
        <p:nvSpPr>
          <p:cNvPr id="19" name="Text 17"/>
          <p:cNvSpPr/>
          <p:nvPr/>
        </p:nvSpPr>
        <p:spPr>
          <a:xfrm>
            <a:off x="8625535" y="2651760"/>
            <a:ext cx="3108960" cy="822960"/>
          </a:xfrm>
          <a:prstGeom prst="rect">
            <a:avLst/>
          </a:prstGeom>
          <a:noFill/>
          <a:ln/>
        </p:spPr>
        <p:txBody>
          <a:bodyPr wrap="square" rtlCol="0" anchor="ctr"/>
          <a:lstStyle/>
          <a:p>
            <a:pPr algn="ctr" indent="0" marL="0">
              <a:buNone/>
            </a:pPr>
            <a:r>
              <a:rPr lang="en-US" sz="4600" b="1" dirty="0">
                <a:solidFill>
                  <a:srgbClr val="1B3A6B"/>
                </a:solidFill>
                <a:latin typeface="Cambria" pitchFamily="34" charset="0"/>
                <a:ea typeface="Cambria" pitchFamily="34" charset="-122"/>
                <a:cs typeface="Cambria" pitchFamily="34" charset="-120"/>
              </a:rPr>
              <a:t>B.Tech</a:t>
            </a:r>
            <a:endParaRPr lang="en-US" sz="4600" dirty="0"/>
          </a:p>
        </p:txBody>
      </p:sp>
      <p:sp>
        <p:nvSpPr>
          <p:cNvPr id="20" name="Text 18"/>
          <p:cNvSpPr/>
          <p:nvPr/>
        </p:nvSpPr>
        <p:spPr>
          <a:xfrm>
            <a:off x="8625535" y="3429000"/>
            <a:ext cx="3108960" cy="640080"/>
          </a:xfrm>
          <a:prstGeom prst="rect">
            <a:avLst/>
          </a:prstGeom>
          <a:noFill/>
          <a:ln/>
        </p:spPr>
        <p:txBody>
          <a:bodyPr wrap="square" lIns="0" tIns="0" rIns="0" bIns="0" rtlCol="0" anchor="ctr"/>
          <a:lstStyle/>
          <a:p>
            <a:pPr algn="ctr" indent="0" marL="0">
              <a:buNone/>
            </a:pPr>
            <a:r>
              <a:rPr lang="en-US" sz="1300" dirty="0">
                <a:solidFill>
                  <a:srgbClr val="50606E"/>
                </a:solidFill>
                <a:latin typeface="Calibri" pitchFamily="34" charset="0"/>
                <a:ea typeface="Calibri" pitchFamily="34" charset="-122"/>
                <a:cs typeface="Calibri" pitchFamily="34" charset="-120"/>
              </a:rPr>
              <a:t>Computer Science &amp;</a:t>
            </a:r>
            <a:endParaRPr lang="en-US" sz="1300" dirty="0"/>
          </a:p>
          <a:p>
            <a:pPr algn="ctr" indent="0" marL="0">
              <a:buNone/>
            </a:pPr>
            <a:r>
              <a:rPr lang="en-US" sz="1300" dirty="0">
                <a:solidFill>
                  <a:srgbClr val="50606E"/>
                </a:solidFill>
                <a:latin typeface="Calibri" pitchFamily="34" charset="0"/>
                <a:ea typeface="Calibri" pitchFamily="34" charset="-122"/>
                <a:cs typeface="Calibri" pitchFamily="34" charset="-120"/>
              </a:rPr>
              <a:t>Engineering</a:t>
            </a:r>
            <a:endParaRPr lang="en-US" sz="1300" dirty="0"/>
          </a:p>
        </p:txBody>
      </p:sp>
      <p:sp>
        <p:nvSpPr>
          <p:cNvPr id="21" name="Text 19"/>
          <p:cNvSpPr/>
          <p:nvPr/>
        </p:nvSpPr>
        <p:spPr>
          <a:xfrm>
            <a:off x="8625535" y="5212080"/>
            <a:ext cx="3108960" cy="457200"/>
          </a:xfrm>
          <a:prstGeom prst="rect">
            <a:avLst/>
          </a:prstGeom>
          <a:noFill/>
          <a:ln/>
        </p:spPr>
        <p:txBody>
          <a:bodyPr wrap="square" rtlCol="0" anchor="ctr"/>
          <a:lstStyle/>
          <a:p>
            <a:pPr algn="ctr" indent="0" marL="0">
              <a:buNone/>
            </a:pPr>
            <a:r>
              <a:rPr lang="en-US" sz="1400" b="1" dirty="0">
                <a:solidFill>
                  <a:srgbClr val="1791A6"/>
                </a:solidFill>
                <a:latin typeface="Calibri" pitchFamily="34" charset="0"/>
                <a:ea typeface="Calibri" pitchFamily="34" charset="-122"/>
                <a:cs typeface="Calibri" pitchFamily="34" charset="-120"/>
              </a:rPr>
              <a:t>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Agenda</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What this presentation covers</a:t>
            </a:r>
            <a:endParaRPr lang="en-US" sz="1350" dirty="0"/>
          </a:p>
        </p:txBody>
      </p:sp>
      <p:sp>
        <p:nvSpPr>
          <p:cNvPr id="4" name="Shape 2"/>
          <p:cNvSpPr/>
          <p:nvPr/>
        </p:nvSpPr>
        <p:spPr>
          <a:xfrm>
            <a:off x="548640" y="1600200"/>
            <a:ext cx="3611880" cy="1417320"/>
          </a:xfrm>
          <a:prstGeom prst="roundRect">
            <a:avLst>
              <a:gd name="adj" fmla="val 5161"/>
            </a:avLst>
          </a:prstGeom>
          <a:solidFill>
            <a:srgbClr val="F7FAFD"/>
          </a:solidFill>
          <a:ln w="12700">
            <a:solidFill>
              <a:srgbClr val="DCE9F7"/>
            </a:solidFill>
            <a:prstDash val="solid"/>
          </a:ln>
        </p:spPr>
      </p:sp>
      <p:sp>
        <p:nvSpPr>
          <p:cNvPr id="5" name="Text 3"/>
          <p:cNvSpPr/>
          <p:nvPr/>
        </p:nvSpPr>
        <p:spPr>
          <a:xfrm>
            <a:off x="731520" y="172821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731520" y="216712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Introduction</a:t>
            </a:r>
            <a:endParaRPr lang="en-US" sz="1450" dirty="0"/>
          </a:p>
        </p:txBody>
      </p:sp>
      <p:sp>
        <p:nvSpPr>
          <p:cNvPr id="7" name="Text 5"/>
          <p:cNvSpPr/>
          <p:nvPr/>
        </p:nvSpPr>
        <p:spPr>
          <a:xfrm>
            <a:off x="731520" y="253288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About the internship &amp; role</a:t>
            </a:r>
            <a:endParaRPr lang="en-US" sz="1050" dirty="0"/>
          </a:p>
        </p:txBody>
      </p:sp>
      <p:sp>
        <p:nvSpPr>
          <p:cNvPr id="8" name="Shape 6"/>
          <p:cNvSpPr/>
          <p:nvPr/>
        </p:nvSpPr>
        <p:spPr>
          <a:xfrm>
            <a:off x="4389120" y="1600200"/>
            <a:ext cx="3611880" cy="1417320"/>
          </a:xfrm>
          <a:prstGeom prst="roundRect">
            <a:avLst>
              <a:gd name="adj" fmla="val 5161"/>
            </a:avLst>
          </a:prstGeom>
          <a:solidFill>
            <a:srgbClr val="F7FAFD"/>
          </a:solidFill>
          <a:ln w="12700">
            <a:solidFill>
              <a:srgbClr val="DCE9F7"/>
            </a:solidFill>
            <a:prstDash val="solid"/>
          </a:ln>
        </p:spPr>
      </p:sp>
      <p:sp>
        <p:nvSpPr>
          <p:cNvPr id="9" name="Text 7"/>
          <p:cNvSpPr/>
          <p:nvPr/>
        </p:nvSpPr>
        <p:spPr>
          <a:xfrm>
            <a:off x="4572000" y="172821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4572000" y="216712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Organization Profile</a:t>
            </a:r>
            <a:endParaRPr lang="en-US" sz="1450" dirty="0"/>
          </a:p>
        </p:txBody>
      </p:sp>
      <p:sp>
        <p:nvSpPr>
          <p:cNvPr id="11" name="Text 9"/>
          <p:cNvSpPr/>
          <p:nvPr/>
        </p:nvSpPr>
        <p:spPr>
          <a:xfrm>
            <a:off x="4572000" y="253288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FinZ — engagement summary</a:t>
            </a:r>
            <a:endParaRPr lang="en-US" sz="1050" dirty="0"/>
          </a:p>
        </p:txBody>
      </p:sp>
      <p:sp>
        <p:nvSpPr>
          <p:cNvPr id="12" name="Shape 10"/>
          <p:cNvSpPr/>
          <p:nvPr/>
        </p:nvSpPr>
        <p:spPr>
          <a:xfrm>
            <a:off x="8229600" y="1600200"/>
            <a:ext cx="3611880" cy="1417320"/>
          </a:xfrm>
          <a:prstGeom prst="roundRect">
            <a:avLst>
              <a:gd name="adj" fmla="val 5161"/>
            </a:avLst>
          </a:prstGeom>
          <a:solidFill>
            <a:srgbClr val="F7FAFD"/>
          </a:solidFill>
          <a:ln w="12700">
            <a:solidFill>
              <a:srgbClr val="DCE9F7"/>
            </a:solidFill>
            <a:prstDash val="solid"/>
          </a:ln>
        </p:spPr>
      </p:sp>
      <p:sp>
        <p:nvSpPr>
          <p:cNvPr id="13" name="Text 11"/>
          <p:cNvSpPr/>
          <p:nvPr/>
        </p:nvSpPr>
        <p:spPr>
          <a:xfrm>
            <a:off x="8412480" y="172821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8412480" y="216712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Problem Statement</a:t>
            </a:r>
            <a:endParaRPr lang="en-US" sz="1450" dirty="0"/>
          </a:p>
        </p:txBody>
      </p:sp>
      <p:sp>
        <p:nvSpPr>
          <p:cNvPr id="15" name="Text 13"/>
          <p:cNvSpPr/>
          <p:nvPr/>
        </p:nvSpPr>
        <p:spPr>
          <a:xfrm>
            <a:off x="8412480" y="253288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Challenges LeadOne 2.0 addresses</a:t>
            </a:r>
            <a:endParaRPr lang="en-US" sz="1050" dirty="0"/>
          </a:p>
        </p:txBody>
      </p:sp>
      <p:sp>
        <p:nvSpPr>
          <p:cNvPr id="16" name="Shape 14"/>
          <p:cNvSpPr/>
          <p:nvPr/>
        </p:nvSpPr>
        <p:spPr>
          <a:xfrm>
            <a:off x="548640" y="3246120"/>
            <a:ext cx="3611880" cy="1417320"/>
          </a:xfrm>
          <a:prstGeom prst="roundRect">
            <a:avLst>
              <a:gd name="adj" fmla="val 5161"/>
            </a:avLst>
          </a:prstGeom>
          <a:solidFill>
            <a:srgbClr val="F7FAFD"/>
          </a:solidFill>
          <a:ln w="12700">
            <a:solidFill>
              <a:srgbClr val="DCE9F7"/>
            </a:solidFill>
            <a:prstDash val="solid"/>
          </a:ln>
        </p:spPr>
      </p:sp>
      <p:sp>
        <p:nvSpPr>
          <p:cNvPr id="17" name="Text 15"/>
          <p:cNvSpPr/>
          <p:nvPr/>
        </p:nvSpPr>
        <p:spPr>
          <a:xfrm>
            <a:off x="731520" y="337413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731520" y="381304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Objectives &amp; Scope</a:t>
            </a:r>
            <a:endParaRPr lang="en-US" sz="1450" dirty="0"/>
          </a:p>
        </p:txBody>
      </p:sp>
      <p:sp>
        <p:nvSpPr>
          <p:cNvPr id="19" name="Text 17"/>
          <p:cNvSpPr/>
          <p:nvPr/>
        </p:nvSpPr>
        <p:spPr>
          <a:xfrm>
            <a:off x="731520" y="417880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Goals and functional coverage</a:t>
            </a:r>
            <a:endParaRPr lang="en-US" sz="1050" dirty="0"/>
          </a:p>
        </p:txBody>
      </p:sp>
      <p:sp>
        <p:nvSpPr>
          <p:cNvPr id="20" name="Shape 18"/>
          <p:cNvSpPr/>
          <p:nvPr/>
        </p:nvSpPr>
        <p:spPr>
          <a:xfrm>
            <a:off x="4389120" y="3246120"/>
            <a:ext cx="3611880" cy="1417320"/>
          </a:xfrm>
          <a:prstGeom prst="roundRect">
            <a:avLst>
              <a:gd name="adj" fmla="val 5161"/>
            </a:avLst>
          </a:prstGeom>
          <a:solidFill>
            <a:srgbClr val="F7FAFD"/>
          </a:solidFill>
          <a:ln w="12700">
            <a:solidFill>
              <a:srgbClr val="DCE9F7"/>
            </a:solidFill>
            <a:prstDash val="solid"/>
          </a:ln>
        </p:spPr>
      </p:sp>
      <p:sp>
        <p:nvSpPr>
          <p:cNvPr id="21" name="Text 19"/>
          <p:cNvSpPr/>
          <p:nvPr/>
        </p:nvSpPr>
        <p:spPr>
          <a:xfrm>
            <a:off x="4572000" y="337413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05</a:t>
            </a:r>
            <a:endParaRPr lang="en-US" sz="2600" dirty="0"/>
          </a:p>
        </p:txBody>
      </p:sp>
      <p:sp>
        <p:nvSpPr>
          <p:cNvPr id="22" name="Text 20"/>
          <p:cNvSpPr/>
          <p:nvPr/>
        </p:nvSpPr>
        <p:spPr>
          <a:xfrm>
            <a:off x="4572000" y="381304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Technology Stack</a:t>
            </a:r>
            <a:endParaRPr lang="en-US" sz="1450" dirty="0"/>
          </a:p>
        </p:txBody>
      </p:sp>
      <p:sp>
        <p:nvSpPr>
          <p:cNvPr id="23" name="Text 21"/>
          <p:cNvSpPr/>
          <p:nvPr/>
        </p:nvSpPr>
        <p:spPr>
          <a:xfrm>
            <a:off x="4572000" y="417880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Frameworks and tools used</a:t>
            </a:r>
            <a:endParaRPr lang="en-US" sz="1050" dirty="0"/>
          </a:p>
        </p:txBody>
      </p:sp>
      <p:sp>
        <p:nvSpPr>
          <p:cNvPr id="24" name="Shape 22"/>
          <p:cNvSpPr/>
          <p:nvPr/>
        </p:nvSpPr>
        <p:spPr>
          <a:xfrm>
            <a:off x="8229600" y="3246120"/>
            <a:ext cx="3611880" cy="1417320"/>
          </a:xfrm>
          <a:prstGeom prst="roundRect">
            <a:avLst>
              <a:gd name="adj" fmla="val 5161"/>
            </a:avLst>
          </a:prstGeom>
          <a:solidFill>
            <a:srgbClr val="F7FAFD"/>
          </a:solidFill>
          <a:ln w="12700">
            <a:solidFill>
              <a:srgbClr val="DCE9F7"/>
            </a:solidFill>
            <a:prstDash val="solid"/>
          </a:ln>
        </p:spPr>
      </p:sp>
      <p:sp>
        <p:nvSpPr>
          <p:cNvPr id="25" name="Text 23"/>
          <p:cNvSpPr/>
          <p:nvPr/>
        </p:nvSpPr>
        <p:spPr>
          <a:xfrm>
            <a:off x="8412480" y="337413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06</a:t>
            </a:r>
            <a:endParaRPr lang="en-US" sz="2600" dirty="0"/>
          </a:p>
        </p:txBody>
      </p:sp>
      <p:sp>
        <p:nvSpPr>
          <p:cNvPr id="26" name="Text 24"/>
          <p:cNvSpPr/>
          <p:nvPr/>
        </p:nvSpPr>
        <p:spPr>
          <a:xfrm>
            <a:off x="8412480" y="381304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System Architecture</a:t>
            </a:r>
            <a:endParaRPr lang="en-US" sz="1450" dirty="0"/>
          </a:p>
        </p:txBody>
      </p:sp>
      <p:sp>
        <p:nvSpPr>
          <p:cNvPr id="27" name="Text 25"/>
          <p:cNvSpPr/>
          <p:nvPr/>
        </p:nvSpPr>
        <p:spPr>
          <a:xfrm>
            <a:off x="8412480" y="417880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How the platform is structured</a:t>
            </a:r>
            <a:endParaRPr lang="en-US" sz="1050" dirty="0"/>
          </a:p>
        </p:txBody>
      </p:sp>
      <p:sp>
        <p:nvSpPr>
          <p:cNvPr id="28" name="Shape 26"/>
          <p:cNvSpPr/>
          <p:nvPr/>
        </p:nvSpPr>
        <p:spPr>
          <a:xfrm>
            <a:off x="548640" y="4892040"/>
            <a:ext cx="3611880" cy="1417320"/>
          </a:xfrm>
          <a:prstGeom prst="roundRect">
            <a:avLst>
              <a:gd name="adj" fmla="val 5161"/>
            </a:avLst>
          </a:prstGeom>
          <a:solidFill>
            <a:srgbClr val="F7FAFD"/>
          </a:solidFill>
          <a:ln w="12700">
            <a:solidFill>
              <a:srgbClr val="DCE9F7"/>
            </a:solidFill>
            <a:prstDash val="solid"/>
          </a:ln>
        </p:spPr>
      </p:sp>
      <p:sp>
        <p:nvSpPr>
          <p:cNvPr id="29" name="Text 27"/>
          <p:cNvSpPr/>
          <p:nvPr/>
        </p:nvSpPr>
        <p:spPr>
          <a:xfrm>
            <a:off x="731520" y="502005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07</a:t>
            </a:r>
            <a:endParaRPr lang="en-US" sz="2600" dirty="0"/>
          </a:p>
        </p:txBody>
      </p:sp>
      <p:sp>
        <p:nvSpPr>
          <p:cNvPr id="30" name="Text 28"/>
          <p:cNvSpPr/>
          <p:nvPr/>
        </p:nvSpPr>
        <p:spPr>
          <a:xfrm>
            <a:off x="731520" y="545896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Core Modules</a:t>
            </a:r>
            <a:endParaRPr lang="en-US" sz="1450" dirty="0"/>
          </a:p>
        </p:txBody>
      </p:sp>
      <p:sp>
        <p:nvSpPr>
          <p:cNvPr id="31" name="Text 29"/>
          <p:cNvSpPr/>
          <p:nvPr/>
        </p:nvSpPr>
        <p:spPr>
          <a:xfrm>
            <a:off x="731520" y="582472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The seven functional modules</a:t>
            </a:r>
            <a:endParaRPr lang="en-US" sz="1050" dirty="0"/>
          </a:p>
        </p:txBody>
      </p:sp>
      <p:sp>
        <p:nvSpPr>
          <p:cNvPr id="32" name="Shape 30"/>
          <p:cNvSpPr/>
          <p:nvPr/>
        </p:nvSpPr>
        <p:spPr>
          <a:xfrm>
            <a:off x="4389120" y="4892040"/>
            <a:ext cx="3611880" cy="1417320"/>
          </a:xfrm>
          <a:prstGeom prst="roundRect">
            <a:avLst>
              <a:gd name="adj" fmla="val 5161"/>
            </a:avLst>
          </a:prstGeom>
          <a:solidFill>
            <a:srgbClr val="F7FAFD"/>
          </a:solidFill>
          <a:ln w="12700">
            <a:solidFill>
              <a:srgbClr val="DCE9F7"/>
            </a:solidFill>
            <a:prstDash val="solid"/>
          </a:ln>
        </p:spPr>
      </p:sp>
      <p:sp>
        <p:nvSpPr>
          <p:cNvPr id="33" name="Text 31"/>
          <p:cNvSpPr/>
          <p:nvPr/>
        </p:nvSpPr>
        <p:spPr>
          <a:xfrm>
            <a:off x="4572000" y="502005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08</a:t>
            </a:r>
            <a:endParaRPr lang="en-US" sz="2600" dirty="0"/>
          </a:p>
        </p:txBody>
      </p:sp>
      <p:sp>
        <p:nvSpPr>
          <p:cNvPr id="34" name="Text 32"/>
          <p:cNvSpPr/>
          <p:nvPr/>
        </p:nvSpPr>
        <p:spPr>
          <a:xfrm>
            <a:off x="4572000" y="545896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Methodology &amp; Challenges</a:t>
            </a:r>
            <a:endParaRPr lang="en-US" sz="1450" dirty="0"/>
          </a:p>
        </p:txBody>
      </p:sp>
      <p:sp>
        <p:nvSpPr>
          <p:cNvPr id="35" name="Text 33"/>
          <p:cNvSpPr/>
          <p:nvPr/>
        </p:nvSpPr>
        <p:spPr>
          <a:xfrm>
            <a:off x="4572000" y="582472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Development approach and solutions</a:t>
            </a:r>
            <a:endParaRPr lang="en-US" sz="1050" dirty="0"/>
          </a:p>
        </p:txBody>
      </p:sp>
      <p:sp>
        <p:nvSpPr>
          <p:cNvPr id="36" name="Shape 34"/>
          <p:cNvSpPr/>
          <p:nvPr/>
        </p:nvSpPr>
        <p:spPr>
          <a:xfrm>
            <a:off x="8229600" y="4892040"/>
            <a:ext cx="3611880" cy="1417320"/>
          </a:xfrm>
          <a:prstGeom prst="roundRect">
            <a:avLst>
              <a:gd name="adj" fmla="val 5161"/>
            </a:avLst>
          </a:prstGeom>
          <a:solidFill>
            <a:srgbClr val="F7FAFD"/>
          </a:solidFill>
          <a:ln w="12700">
            <a:solidFill>
              <a:srgbClr val="DCE9F7"/>
            </a:solidFill>
            <a:prstDash val="solid"/>
          </a:ln>
        </p:spPr>
      </p:sp>
      <p:sp>
        <p:nvSpPr>
          <p:cNvPr id="37" name="Text 35"/>
          <p:cNvSpPr/>
          <p:nvPr/>
        </p:nvSpPr>
        <p:spPr>
          <a:xfrm>
            <a:off x="8412480" y="5020056"/>
            <a:ext cx="914400" cy="548640"/>
          </a:xfrm>
          <a:prstGeom prst="rect">
            <a:avLst/>
          </a:prstGeom>
          <a:noFill/>
          <a:ln/>
        </p:spPr>
        <p:txBody>
          <a:bodyPr wrap="square" lIns="0" tIns="0" rIns="0" bIns="0" rtlCol="0" anchor="ctr"/>
          <a:lstStyle/>
          <a:p>
            <a:pPr indent="0" marL="0">
              <a:buNone/>
            </a:pPr>
            <a:r>
              <a:rPr lang="en-US" sz="2600" b="1" dirty="0">
                <a:solidFill>
                  <a:srgbClr val="C3D6EC"/>
                </a:solidFill>
                <a:latin typeface="Cambria" pitchFamily="34" charset="0"/>
                <a:ea typeface="Cambria" pitchFamily="34" charset="-122"/>
                <a:cs typeface="Cambria" pitchFamily="34" charset="-120"/>
              </a:rPr>
              <a:t>09</a:t>
            </a:r>
            <a:endParaRPr lang="en-US" sz="2600" dirty="0"/>
          </a:p>
        </p:txBody>
      </p:sp>
      <p:sp>
        <p:nvSpPr>
          <p:cNvPr id="38" name="Text 36"/>
          <p:cNvSpPr/>
          <p:nvPr/>
        </p:nvSpPr>
        <p:spPr>
          <a:xfrm>
            <a:off x="8412480" y="5458968"/>
            <a:ext cx="3246120" cy="384048"/>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Outcomes &amp; Conclusion</a:t>
            </a:r>
            <a:endParaRPr lang="en-US" sz="1450" dirty="0"/>
          </a:p>
        </p:txBody>
      </p:sp>
      <p:sp>
        <p:nvSpPr>
          <p:cNvPr id="39" name="Text 37"/>
          <p:cNvSpPr/>
          <p:nvPr/>
        </p:nvSpPr>
        <p:spPr>
          <a:xfrm>
            <a:off x="8412480" y="5824728"/>
            <a:ext cx="3246120" cy="411480"/>
          </a:xfrm>
          <a:prstGeom prst="rect">
            <a:avLst/>
          </a:prstGeom>
          <a:noFill/>
          <a:ln/>
        </p:spPr>
        <p:txBody>
          <a:bodyPr wrap="square" lIns="0" tIns="0" rIns="0" bIns="0" rtlCol="0" anchor="ctr"/>
          <a:lstStyle/>
          <a:p>
            <a:pPr indent="0" marL="0">
              <a:buNone/>
            </a:pPr>
            <a:r>
              <a:rPr lang="en-US" sz="1050" dirty="0">
                <a:solidFill>
                  <a:srgbClr val="50606E"/>
                </a:solidFill>
                <a:latin typeface="Calibri" pitchFamily="34" charset="0"/>
                <a:ea typeface="Calibri" pitchFamily="34" charset="-122"/>
                <a:cs typeface="Calibri" pitchFamily="34" charset="-120"/>
              </a:rPr>
              <a:t>Learning gained from the internship</a:t>
            </a:r>
            <a:endParaRPr lang="en-US" sz="1050" dirty="0"/>
          </a:p>
        </p:txBody>
      </p:sp>
      <p:sp>
        <p:nvSpPr>
          <p:cNvPr id="40" name="Text 38"/>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41" name="Text 39"/>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Introduction</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Overview of the internship engagement</a:t>
            </a:r>
            <a:endParaRPr lang="en-US" sz="1350" dirty="0"/>
          </a:p>
        </p:txBody>
      </p:sp>
      <p:sp>
        <p:nvSpPr>
          <p:cNvPr id="4" name="Text 2"/>
          <p:cNvSpPr/>
          <p:nvPr/>
        </p:nvSpPr>
        <p:spPr>
          <a:xfrm>
            <a:off x="548640" y="1508760"/>
            <a:ext cx="6537960" cy="1737360"/>
          </a:xfrm>
          <a:prstGeom prst="rect">
            <a:avLst/>
          </a:prstGeom>
          <a:noFill/>
          <a:ln/>
        </p:spPr>
        <p:txBody>
          <a:bodyPr wrap="square" lIns="0" tIns="0" rIns="0" bIns="0" rtlCol="0" anchor="ctr"/>
          <a:lstStyle/>
          <a:p>
            <a:pPr indent="0" marL="0">
              <a:lnSpc>
                <a:spcPct val="125000"/>
              </a:lnSpc>
              <a:buNone/>
            </a:pPr>
            <a:r>
              <a:rPr lang="en-US" sz="1450" dirty="0">
                <a:solidFill>
                  <a:srgbClr val="50606E"/>
                </a:solidFill>
                <a:latin typeface="Calibri" pitchFamily="34" charset="0"/>
                <a:ea typeface="Calibri" pitchFamily="34" charset="-122"/>
                <a:cs typeface="Calibri" pitchFamily="34" charset="-120"/>
              </a:rPr>
              <a:t>As part of the B.Tech CSE curriculum, I completed an internship as a Full Stack Developer at FinZ, contributing to the development and integration of LeadOne 2.0 — an enterprise-grade Lead Management System (LMS), CRM platform, and Cloud Telephony / Call Center solution.</a:t>
            </a:r>
            <a:endParaRPr lang="en-US" sz="1450" dirty="0"/>
          </a:p>
        </p:txBody>
      </p:sp>
      <p:sp>
        <p:nvSpPr>
          <p:cNvPr id="5" name="Text 3"/>
          <p:cNvSpPr/>
          <p:nvPr/>
        </p:nvSpPr>
        <p:spPr>
          <a:xfrm>
            <a:off x="548640" y="3246120"/>
            <a:ext cx="6537960" cy="1554480"/>
          </a:xfrm>
          <a:prstGeom prst="rect">
            <a:avLst/>
          </a:prstGeom>
          <a:noFill/>
          <a:ln/>
        </p:spPr>
        <p:txBody>
          <a:bodyPr wrap="square" lIns="0" tIns="0" rIns="0" bIns="0" rtlCol="0" anchor="ctr"/>
          <a:lstStyle/>
          <a:p>
            <a:pPr indent="0" marL="0">
              <a:lnSpc>
                <a:spcPct val="125000"/>
              </a:lnSpc>
              <a:buNone/>
            </a:pPr>
            <a:r>
              <a:rPr lang="en-US" sz="1450" dirty="0">
                <a:solidFill>
                  <a:srgbClr val="50606E"/>
                </a:solidFill>
                <a:latin typeface="Calibri" pitchFamily="34" charset="0"/>
                <a:ea typeface="Calibri" pitchFamily="34" charset="-122"/>
                <a:cs typeface="Calibri" pitchFamily="34" charset="-120"/>
              </a:rPr>
              <a:t>This report presents an academic account of the platform, the problem domain it addresses, the technologies used in its development, its architecture, and the practical skills gained — based strictly on verified project documentation and the internship completion certificate.</a:t>
            </a:r>
            <a:endParaRPr lang="en-US" sz="1450" dirty="0"/>
          </a:p>
        </p:txBody>
      </p:sp>
      <p:sp>
        <p:nvSpPr>
          <p:cNvPr id="6" name="Shape 4"/>
          <p:cNvSpPr/>
          <p:nvPr/>
        </p:nvSpPr>
        <p:spPr>
          <a:xfrm>
            <a:off x="7452360" y="1508760"/>
            <a:ext cx="4206240" cy="4434840"/>
          </a:xfrm>
          <a:prstGeom prst="roundRect">
            <a:avLst>
              <a:gd name="adj" fmla="val 2174"/>
            </a:avLst>
          </a:prstGeom>
          <a:solidFill>
            <a:srgbClr val="1B3A6B"/>
          </a:solidFill>
          <a:ln/>
        </p:spPr>
      </p:sp>
      <p:sp>
        <p:nvSpPr>
          <p:cNvPr id="7" name="Text 5"/>
          <p:cNvSpPr/>
          <p:nvPr/>
        </p:nvSpPr>
        <p:spPr>
          <a:xfrm>
            <a:off x="7772400" y="1737360"/>
            <a:ext cx="3566160" cy="320040"/>
          </a:xfrm>
          <a:prstGeom prst="rect">
            <a:avLst/>
          </a:prstGeom>
          <a:noFill/>
          <a:ln/>
        </p:spPr>
        <p:txBody>
          <a:bodyPr wrap="square" lIns="0" tIns="0" rIns="0" bIns="0" rtlCol="0" anchor="ctr"/>
          <a:lstStyle/>
          <a:p>
            <a:pPr indent="0" marL="0">
              <a:buNone/>
            </a:pPr>
            <a:r>
              <a:rPr lang="en-US" sz="1100" b="1" spc="200" kern="0" dirty="0">
                <a:solidFill>
                  <a:srgbClr val="9FC1E8"/>
                </a:solidFill>
                <a:latin typeface="Calibri" pitchFamily="34" charset="0"/>
                <a:ea typeface="Calibri" pitchFamily="34" charset="-122"/>
                <a:cs typeface="Calibri" pitchFamily="34" charset="-120"/>
              </a:rPr>
              <a:t>AT A GLANCE</a:t>
            </a:r>
            <a:endParaRPr lang="en-US" sz="1100" dirty="0"/>
          </a:p>
        </p:txBody>
      </p:sp>
      <p:sp>
        <p:nvSpPr>
          <p:cNvPr id="8" name="Text 6"/>
          <p:cNvSpPr/>
          <p:nvPr/>
        </p:nvSpPr>
        <p:spPr>
          <a:xfrm>
            <a:off x="7772400" y="2148840"/>
            <a:ext cx="3566160" cy="237744"/>
          </a:xfrm>
          <a:prstGeom prst="rect">
            <a:avLst/>
          </a:prstGeom>
          <a:noFill/>
          <a:ln/>
        </p:spPr>
        <p:txBody>
          <a:bodyPr wrap="square" lIns="0" tIns="0" rIns="0" bIns="0" rtlCol="0" anchor="ctr"/>
          <a:lstStyle/>
          <a:p>
            <a:pPr indent="0" marL="0">
              <a:buNone/>
            </a:pPr>
            <a:r>
              <a:rPr lang="en-US" sz="1050" b="1" dirty="0">
                <a:solidFill>
                  <a:srgbClr val="7FA8D6"/>
                </a:solidFill>
                <a:latin typeface="Calibri" pitchFamily="34" charset="0"/>
                <a:ea typeface="Calibri" pitchFamily="34" charset="-122"/>
                <a:cs typeface="Calibri" pitchFamily="34" charset="-120"/>
              </a:rPr>
              <a:t>Role</a:t>
            </a:r>
            <a:endParaRPr lang="en-US" sz="1050" dirty="0"/>
          </a:p>
        </p:txBody>
      </p:sp>
      <p:sp>
        <p:nvSpPr>
          <p:cNvPr id="9" name="Text 7"/>
          <p:cNvSpPr/>
          <p:nvPr/>
        </p:nvSpPr>
        <p:spPr>
          <a:xfrm>
            <a:off x="7772400" y="2377440"/>
            <a:ext cx="3566160" cy="384048"/>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Full Stack Developer (Intern)</a:t>
            </a:r>
            <a:endParaRPr lang="en-US" sz="1200" dirty="0"/>
          </a:p>
        </p:txBody>
      </p:sp>
      <p:sp>
        <p:nvSpPr>
          <p:cNvPr id="10" name="Text 8"/>
          <p:cNvSpPr/>
          <p:nvPr/>
        </p:nvSpPr>
        <p:spPr>
          <a:xfrm>
            <a:off x="7772400" y="2775204"/>
            <a:ext cx="3566160" cy="237744"/>
          </a:xfrm>
          <a:prstGeom prst="rect">
            <a:avLst/>
          </a:prstGeom>
          <a:noFill/>
          <a:ln/>
        </p:spPr>
        <p:txBody>
          <a:bodyPr wrap="square" lIns="0" tIns="0" rIns="0" bIns="0" rtlCol="0" anchor="ctr"/>
          <a:lstStyle/>
          <a:p>
            <a:pPr indent="0" marL="0">
              <a:buNone/>
            </a:pPr>
            <a:r>
              <a:rPr lang="en-US" sz="1050" b="1" dirty="0">
                <a:solidFill>
                  <a:srgbClr val="7FA8D6"/>
                </a:solidFill>
                <a:latin typeface="Calibri" pitchFamily="34" charset="0"/>
                <a:ea typeface="Calibri" pitchFamily="34" charset="-122"/>
                <a:cs typeface="Calibri" pitchFamily="34" charset="-120"/>
              </a:rPr>
              <a:t>Organization</a:t>
            </a:r>
            <a:endParaRPr lang="en-US" sz="1050" dirty="0"/>
          </a:p>
        </p:txBody>
      </p:sp>
      <p:sp>
        <p:nvSpPr>
          <p:cNvPr id="11" name="Text 9"/>
          <p:cNvSpPr/>
          <p:nvPr/>
        </p:nvSpPr>
        <p:spPr>
          <a:xfrm>
            <a:off x="7772400" y="3003804"/>
            <a:ext cx="3566160" cy="384048"/>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FinZ</a:t>
            </a:r>
            <a:endParaRPr lang="en-US" sz="1200" dirty="0"/>
          </a:p>
        </p:txBody>
      </p:sp>
      <p:sp>
        <p:nvSpPr>
          <p:cNvPr id="12" name="Text 10"/>
          <p:cNvSpPr/>
          <p:nvPr/>
        </p:nvSpPr>
        <p:spPr>
          <a:xfrm>
            <a:off x="7772400" y="3401568"/>
            <a:ext cx="3566160" cy="237744"/>
          </a:xfrm>
          <a:prstGeom prst="rect">
            <a:avLst/>
          </a:prstGeom>
          <a:noFill/>
          <a:ln/>
        </p:spPr>
        <p:txBody>
          <a:bodyPr wrap="square" lIns="0" tIns="0" rIns="0" bIns="0" rtlCol="0" anchor="ctr"/>
          <a:lstStyle/>
          <a:p>
            <a:pPr indent="0" marL="0">
              <a:buNone/>
            </a:pPr>
            <a:r>
              <a:rPr lang="en-US" sz="1050" b="1" dirty="0">
                <a:solidFill>
                  <a:srgbClr val="7FA8D6"/>
                </a:solidFill>
                <a:latin typeface="Calibri" pitchFamily="34" charset="0"/>
                <a:ea typeface="Calibri" pitchFamily="34" charset="-122"/>
                <a:cs typeface="Calibri" pitchFamily="34" charset="-120"/>
              </a:rPr>
              <a:t>Duration</a:t>
            </a:r>
            <a:endParaRPr lang="en-US" sz="1050" dirty="0"/>
          </a:p>
        </p:txBody>
      </p:sp>
      <p:sp>
        <p:nvSpPr>
          <p:cNvPr id="13" name="Text 11"/>
          <p:cNvSpPr/>
          <p:nvPr/>
        </p:nvSpPr>
        <p:spPr>
          <a:xfrm>
            <a:off x="7772400" y="3630168"/>
            <a:ext cx="3566160" cy="384048"/>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18 May 2026 – 18 Aug 2026</a:t>
            </a:r>
            <a:endParaRPr lang="en-US" sz="1200" dirty="0"/>
          </a:p>
        </p:txBody>
      </p:sp>
      <p:sp>
        <p:nvSpPr>
          <p:cNvPr id="14" name="Text 12"/>
          <p:cNvSpPr/>
          <p:nvPr/>
        </p:nvSpPr>
        <p:spPr>
          <a:xfrm>
            <a:off x="7772400" y="4027932"/>
            <a:ext cx="3566160" cy="237744"/>
          </a:xfrm>
          <a:prstGeom prst="rect">
            <a:avLst/>
          </a:prstGeom>
          <a:noFill/>
          <a:ln/>
        </p:spPr>
        <p:txBody>
          <a:bodyPr wrap="square" lIns="0" tIns="0" rIns="0" bIns="0" rtlCol="0" anchor="ctr"/>
          <a:lstStyle/>
          <a:p>
            <a:pPr indent="0" marL="0">
              <a:buNone/>
            </a:pPr>
            <a:r>
              <a:rPr lang="en-US" sz="1050" b="1" dirty="0">
                <a:solidFill>
                  <a:srgbClr val="7FA8D6"/>
                </a:solidFill>
                <a:latin typeface="Calibri" pitchFamily="34" charset="0"/>
                <a:ea typeface="Calibri" pitchFamily="34" charset="-122"/>
                <a:cs typeface="Calibri" pitchFamily="34" charset="-120"/>
              </a:rPr>
              <a:t>Platform</a:t>
            </a:r>
            <a:endParaRPr lang="en-US" sz="1050" dirty="0"/>
          </a:p>
        </p:txBody>
      </p:sp>
      <p:sp>
        <p:nvSpPr>
          <p:cNvPr id="15" name="Text 13"/>
          <p:cNvSpPr/>
          <p:nvPr/>
        </p:nvSpPr>
        <p:spPr>
          <a:xfrm>
            <a:off x="7772400" y="4256532"/>
            <a:ext cx="3566160" cy="384048"/>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LeadOne 2.0</a:t>
            </a:r>
            <a:endParaRPr lang="en-US" sz="1200" dirty="0"/>
          </a:p>
        </p:txBody>
      </p:sp>
      <p:sp>
        <p:nvSpPr>
          <p:cNvPr id="16" name="Text 14"/>
          <p:cNvSpPr/>
          <p:nvPr/>
        </p:nvSpPr>
        <p:spPr>
          <a:xfrm>
            <a:off x="7772400" y="4654296"/>
            <a:ext cx="3566160" cy="237744"/>
          </a:xfrm>
          <a:prstGeom prst="rect">
            <a:avLst/>
          </a:prstGeom>
          <a:noFill/>
          <a:ln/>
        </p:spPr>
        <p:txBody>
          <a:bodyPr wrap="square" lIns="0" tIns="0" rIns="0" bIns="0" rtlCol="0" anchor="ctr"/>
          <a:lstStyle/>
          <a:p>
            <a:pPr indent="0" marL="0">
              <a:buNone/>
            </a:pPr>
            <a:r>
              <a:rPr lang="en-US" sz="1050" b="1" dirty="0">
                <a:solidFill>
                  <a:srgbClr val="7FA8D6"/>
                </a:solidFill>
                <a:latin typeface="Calibri" pitchFamily="34" charset="0"/>
                <a:ea typeface="Calibri" pitchFamily="34" charset="-122"/>
                <a:cs typeface="Calibri" pitchFamily="34" charset="-120"/>
              </a:rPr>
              <a:t>Core Stack</a:t>
            </a:r>
            <a:endParaRPr lang="en-US" sz="1050" dirty="0"/>
          </a:p>
        </p:txBody>
      </p:sp>
      <p:sp>
        <p:nvSpPr>
          <p:cNvPr id="17" name="Text 15"/>
          <p:cNvSpPr/>
          <p:nvPr/>
        </p:nvSpPr>
        <p:spPr>
          <a:xfrm>
            <a:off x="7772400" y="4882896"/>
            <a:ext cx="3566160" cy="384048"/>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Laravel 13 · PHP 8.3+</a:t>
            </a:r>
            <a:endParaRPr lang="en-US" sz="1200" dirty="0"/>
          </a:p>
        </p:txBody>
      </p:sp>
      <p:sp>
        <p:nvSpPr>
          <p:cNvPr id="18" name="Text 16"/>
          <p:cNvSpPr/>
          <p:nvPr/>
        </p:nvSpPr>
        <p:spPr>
          <a:xfrm>
            <a:off x="7772400" y="5280660"/>
            <a:ext cx="3566160" cy="237744"/>
          </a:xfrm>
          <a:prstGeom prst="rect">
            <a:avLst/>
          </a:prstGeom>
          <a:noFill/>
          <a:ln/>
        </p:spPr>
        <p:txBody>
          <a:bodyPr wrap="square" lIns="0" tIns="0" rIns="0" bIns="0" rtlCol="0" anchor="ctr"/>
          <a:lstStyle/>
          <a:p>
            <a:pPr indent="0" marL="0">
              <a:buNone/>
            </a:pPr>
            <a:r>
              <a:rPr lang="en-US" sz="1050" b="1" dirty="0">
                <a:solidFill>
                  <a:srgbClr val="7FA8D6"/>
                </a:solidFill>
                <a:latin typeface="Calibri" pitchFamily="34" charset="0"/>
                <a:ea typeface="Calibri" pitchFamily="34" charset="-122"/>
                <a:cs typeface="Calibri" pitchFamily="34" charset="-120"/>
              </a:rPr>
              <a:t>Focus Areas</a:t>
            </a:r>
            <a:endParaRPr lang="en-US" sz="1050" dirty="0"/>
          </a:p>
        </p:txBody>
      </p:sp>
      <p:sp>
        <p:nvSpPr>
          <p:cNvPr id="19" name="Text 17"/>
          <p:cNvSpPr/>
          <p:nvPr/>
        </p:nvSpPr>
        <p:spPr>
          <a:xfrm>
            <a:off x="7772400" y="5509260"/>
            <a:ext cx="3566160" cy="384048"/>
          </a:xfrm>
          <a:prstGeom prst="rect">
            <a:avLst/>
          </a:prstGeom>
          <a:noFill/>
          <a:ln/>
        </p:spPr>
        <p:txBody>
          <a:bodyPr wrap="square" lIns="0" tIns="0" rIns="0" bIns="0" rtlCol="0" anchor="ctr"/>
          <a:lstStyle/>
          <a:p>
            <a:pPr indent="0" marL="0">
              <a:lnSpc>
                <a:spcPct val="105000"/>
              </a:lnSpc>
              <a:buNone/>
            </a:pPr>
            <a:r>
              <a:rPr lang="en-US" sz="1200" dirty="0">
                <a:solidFill>
                  <a:srgbClr val="FFFFFF"/>
                </a:solidFill>
                <a:latin typeface="Calibri" pitchFamily="34" charset="0"/>
                <a:ea typeface="Calibri" pitchFamily="34" charset="-122"/>
                <a:cs typeface="Calibri" pitchFamily="34" charset="-120"/>
              </a:rPr>
              <a:t>Backend, REST APIs, real-time systems</a:t>
            </a:r>
            <a:endParaRPr lang="en-US" sz="1200" dirty="0"/>
          </a:p>
        </p:txBody>
      </p:sp>
      <p:sp>
        <p:nvSpPr>
          <p:cNvPr id="20" name="Text 18"/>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21" name="Text 19"/>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Organization Profile</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Internship &amp; student details summary</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4297680"/>
        </p:xfrm>
        <a:graphic>
          <a:graphicData uri="http://schemas.openxmlformats.org/drawingml/2006/table">
            <a:tbl>
              <a:tblPr/>
              <a:tblGrid>
                <a:gridCol w="2651760"/>
                <a:gridCol w="4023360"/>
              </a:tblGrid>
              <a:tr h="42976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Particular</a:t>
                      </a:r>
                      <a:endParaRPr lang="en-US" sz="125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1B3A6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Detail</a:t>
                      </a:r>
                      <a:endParaRPr lang="en-US" sz="125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1B3A6B"/>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Organization</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FinZ</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Designation</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Full Stack Developer (Intern)</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Internship Duration</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18-May-2026 to 18-Aug-2026</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Certificate Issue Date</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30-Aug-2026</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Student Name</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Rishu Raj</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Roll Number</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CS-2341354</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Batch</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2023 – 2027</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Section</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4CSE6</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2294D"/>
                          </a:solidFill>
                          <a:latin typeface="Calibri" pitchFamily="34" charset="0"/>
                          <a:ea typeface="Calibri" pitchFamily="34" charset="-122"/>
                          <a:cs typeface="Calibri" pitchFamily="34" charset="-120"/>
                        </a:rPr>
                        <a:t>Project Worked On</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200" dirty="0">
                          <a:solidFill>
                            <a:srgbClr val="50606E"/>
                          </a:solidFill>
                          <a:latin typeface="Calibri" pitchFamily="34" charset="0"/>
                          <a:ea typeface="Calibri" pitchFamily="34" charset="-122"/>
                          <a:cs typeface="Calibri" pitchFamily="34" charset="-120"/>
                        </a:rPr>
                        <a:t>LeadOne 2.0</a:t>
                      </a:r>
                      <a:endParaRPr lang="en-US" sz="1200" dirty="0">
                        <a:latin typeface="Calibri" charset="0"/>
                        <a:ea typeface="Calibri" charset="0"/>
                        <a:cs typeface="Calibri" charset="0"/>
                      </a:endParaRPr>
                    </a:p>
                  </a:txBody>
                  <a:tcPr marL="101600" marR="101600" marT="50800" marB="508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bl>
          </a:graphicData>
        </a:graphic>
      </p:graphicFrame>
      <p:sp>
        <p:nvSpPr>
          <p:cNvPr id="5" name="Shape 2"/>
          <p:cNvSpPr/>
          <p:nvPr/>
        </p:nvSpPr>
        <p:spPr>
          <a:xfrm>
            <a:off x="7543800" y="1554480"/>
            <a:ext cx="4114800" cy="4297680"/>
          </a:xfrm>
          <a:prstGeom prst="roundRect">
            <a:avLst>
              <a:gd name="adj" fmla="val 2222"/>
            </a:avLst>
          </a:prstGeom>
          <a:solidFill>
            <a:srgbClr val="EAF1FA"/>
          </a:solidFill>
          <a:ln/>
        </p:spPr>
      </p:sp>
      <p:sp>
        <p:nvSpPr>
          <p:cNvPr id="6" name="Text 3"/>
          <p:cNvSpPr/>
          <p:nvPr/>
        </p:nvSpPr>
        <p:spPr>
          <a:xfrm>
            <a:off x="7863840" y="1828800"/>
            <a:ext cx="3474720" cy="320040"/>
          </a:xfrm>
          <a:prstGeom prst="rect">
            <a:avLst/>
          </a:prstGeom>
          <a:noFill/>
          <a:ln/>
        </p:spPr>
        <p:txBody>
          <a:bodyPr wrap="square" lIns="0" tIns="0" rIns="0" bIns="0" rtlCol="0" anchor="ctr"/>
          <a:lstStyle/>
          <a:p>
            <a:pPr indent="0" marL="0">
              <a:buNone/>
            </a:pPr>
            <a:r>
              <a:rPr lang="en-US" sz="1100" b="1" spc="150" kern="0" dirty="0">
                <a:solidFill>
                  <a:srgbClr val="1791A6"/>
                </a:solidFill>
                <a:latin typeface="Calibri" pitchFamily="34" charset="0"/>
                <a:ea typeface="Calibri" pitchFamily="34" charset="-122"/>
                <a:cs typeface="Calibri" pitchFamily="34" charset="-120"/>
              </a:rPr>
              <a:t>NOTE ON SCOPE</a:t>
            </a:r>
            <a:endParaRPr lang="en-US" sz="1100" dirty="0"/>
          </a:p>
        </p:txBody>
      </p:sp>
      <p:sp>
        <p:nvSpPr>
          <p:cNvPr id="7" name="Text 4"/>
          <p:cNvSpPr/>
          <p:nvPr/>
        </p:nvSpPr>
        <p:spPr>
          <a:xfrm>
            <a:off x="7863840" y="2240280"/>
            <a:ext cx="3474720" cy="2468880"/>
          </a:xfrm>
          <a:prstGeom prst="rect">
            <a:avLst/>
          </a:prstGeom>
          <a:noFill/>
          <a:ln/>
        </p:spPr>
        <p:txBody>
          <a:bodyPr wrap="square" lIns="0" tIns="0" rIns="0" bIns="0" rtlCol="0" anchor="ctr"/>
          <a:lstStyle/>
          <a:p>
            <a:pPr indent="0" marL="0">
              <a:lnSpc>
                <a:spcPct val="130000"/>
              </a:lnSpc>
              <a:buNone/>
            </a:pPr>
            <a:r>
              <a:rPr lang="en-US" sz="1200" dirty="0">
                <a:solidFill>
                  <a:srgbClr val="12294D"/>
                </a:solidFill>
                <a:latin typeface="Calibri" pitchFamily="34" charset="0"/>
                <a:ea typeface="Calibri" pitchFamily="34" charset="-122"/>
                <a:cs typeface="Calibri" pitchFamily="34" charset="-120"/>
              </a:rPr>
              <a:t>The certificate also displays the logo of PW alongside FinZ, indicating an association between the two. Detailed organizational history, scale, and structure were not independently provided, and such unverified details have intentionally been left out of this report.</a:t>
            </a:r>
            <a:endParaRPr lang="en-US" sz="1200" dirty="0"/>
          </a:p>
        </p:txBody>
      </p:sp>
      <p:sp>
        <p:nvSpPr>
          <p:cNvPr id="8" name="Text 5"/>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9" name="Text 6"/>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Problem Statement</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Operational challenges LeadOne 2.0 addresses</a:t>
            </a:r>
            <a:endParaRPr lang="en-US" sz="1350" dirty="0"/>
          </a:p>
        </p:txBody>
      </p:sp>
      <p:sp>
        <p:nvSpPr>
          <p:cNvPr id="4" name="Shape 2"/>
          <p:cNvSpPr/>
          <p:nvPr/>
        </p:nvSpPr>
        <p:spPr>
          <a:xfrm>
            <a:off x="548640" y="1554480"/>
            <a:ext cx="5486400" cy="1965960"/>
          </a:xfrm>
          <a:prstGeom prst="roundRect">
            <a:avLst>
              <a:gd name="adj" fmla="val 3721"/>
            </a:avLst>
          </a:prstGeom>
          <a:solidFill>
            <a:srgbClr val="F7FAFD"/>
          </a:solidFill>
          <a:ln w="12700">
            <a:solidFill>
              <a:srgbClr val="DCE9F7"/>
            </a:solidFill>
            <a:prstDash val="solid"/>
          </a:ln>
        </p:spPr>
      </p:sp>
      <p:sp>
        <p:nvSpPr>
          <p:cNvPr id="5" name="Shape 3"/>
          <p:cNvSpPr/>
          <p:nvPr/>
        </p:nvSpPr>
        <p:spPr>
          <a:xfrm>
            <a:off x="754380" y="1805940"/>
            <a:ext cx="502920" cy="502920"/>
          </a:xfrm>
          <a:prstGeom prst="ellipse">
            <a:avLst/>
          </a:prstGeom>
          <a:solidFill>
            <a:srgbClr val="1B3A6B"/>
          </a:solidFill>
          <a:ln/>
        </p:spPr>
      </p:sp>
      <p:sp>
        <p:nvSpPr>
          <p:cNvPr id="6" name="Text 4"/>
          <p:cNvSpPr/>
          <p:nvPr/>
        </p:nvSpPr>
        <p:spPr>
          <a:xfrm>
            <a:off x="754380" y="180594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7" name="Text 5"/>
          <p:cNvSpPr/>
          <p:nvPr/>
        </p:nvSpPr>
        <p:spPr>
          <a:xfrm>
            <a:off x="1463040" y="1773936"/>
            <a:ext cx="4343400" cy="457200"/>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Fragmented Lead Tracking</a:t>
            </a:r>
            <a:endParaRPr lang="en-US" sz="1450" dirty="0"/>
          </a:p>
        </p:txBody>
      </p:sp>
      <p:sp>
        <p:nvSpPr>
          <p:cNvPr id="8" name="Text 6"/>
          <p:cNvSpPr/>
          <p:nvPr/>
        </p:nvSpPr>
        <p:spPr>
          <a:xfrm>
            <a:off x="868680" y="2423160"/>
            <a:ext cx="4846320" cy="1005840"/>
          </a:xfrm>
          <a:prstGeom prst="rect">
            <a:avLst/>
          </a:prstGeom>
          <a:noFill/>
          <a:ln/>
        </p:spPr>
        <p:txBody>
          <a:bodyPr wrap="square" lIns="0" tIns="0" rIns="0" bIns="0" rtlCol="0" anchor="ctr"/>
          <a:lstStyle/>
          <a:p>
            <a:pPr indent="0" marL="0">
              <a:lnSpc>
                <a:spcPct val="120000"/>
              </a:lnSpc>
              <a:buNone/>
            </a:pPr>
            <a:r>
              <a:rPr lang="en-US" sz="1150" dirty="0">
                <a:solidFill>
                  <a:srgbClr val="50606E"/>
                </a:solidFill>
                <a:latin typeface="Calibri" pitchFamily="34" charset="0"/>
                <a:ea typeface="Calibri" pitchFamily="34" charset="-122"/>
                <a:cs typeface="Calibri" pitchFamily="34" charset="-120"/>
              </a:rPr>
              <a:t>Leads captured via web forms, campaigns, or manual entry are difficult to track consistently — causing duplicates and delayed follow-ups.</a:t>
            </a:r>
            <a:endParaRPr lang="en-US" sz="1150" dirty="0"/>
          </a:p>
        </p:txBody>
      </p:sp>
      <p:sp>
        <p:nvSpPr>
          <p:cNvPr id="9" name="Shape 7"/>
          <p:cNvSpPr/>
          <p:nvPr/>
        </p:nvSpPr>
        <p:spPr>
          <a:xfrm>
            <a:off x="6263640" y="1554480"/>
            <a:ext cx="5486400" cy="1965960"/>
          </a:xfrm>
          <a:prstGeom prst="roundRect">
            <a:avLst>
              <a:gd name="adj" fmla="val 3721"/>
            </a:avLst>
          </a:prstGeom>
          <a:solidFill>
            <a:srgbClr val="F7FAFD"/>
          </a:solidFill>
          <a:ln w="12700">
            <a:solidFill>
              <a:srgbClr val="DCE9F7"/>
            </a:solidFill>
            <a:prstDash val="solid"/>
          </a:ln>
        </p:spPr>
      </p:sp>
      <p:sp>
        <p:nvSpPr>
          <p:cNvPr id="10" name="Shape 8"/>
          <p:cNvSpPr/>
          <p:nvPr/>
        </p:nvSpPr>
        <p:spPr>
          <a:xfrm>
            <a:off x="6469380" y="1805940"/>
            <a:ext cx="502920" cy="502920"/>
          </a:xfrm>
          <a:prstGeom prst="ellipse">
            <a:avLst/>
          </a:prstGeom>
          <a:solidFill>
            <a:srgbClr val="1B3A6B"/>
          </a:solidFill>
          <a:ln/>
        </p:spPr>
      </p:sp>
      <p:sp>
        <p:nvSpPr>
          <p:cNvPr id="11" name="Text 9"/>
          <p:cNvSpPr/>
          <p:nvPr/>
        </p:nvSpPr>
        <p:spPr>
          <a:xfrm>
            <a:off x="6469380" y="180594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2</a:t>
            </a:r>
            <a:endParaRPr lang="en-US" sz="1430" dirty="0"/>
          </a:p>
        </p:txBody>
      </p:sp>
      <p:sp>
        <p:nvSpPr>
          <p:cNvPr id="12" name="Text 10"/>
          <p:cNvSpPr/>
          <p:nvPr/>
        </p:nvSpPr>
        <p:spPr>
          <a:xfrm>
            <a:off x="7178040" y="1773936"/>
            <a:ext cx="4343400" cy="457200"/>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Disconnected Telephony</a:t>
            </a:r>
            <a:endParaRPr lang="en-US" sz="1450" dirty="0"/>
          </a:p>
        </p:txBody>
      </p:sp>
      <p:sp>
        <p:nvSpPr>
          <p:cNvPr id="13" name="Text 11"/>
          <p:cNvSpPr/>
          <p:nvPr/>
        </p:nvSpPr>
        <p:spPr>
          <a:xfrm>
            <a:off x="6583680" y="2423160"/>
            <a:ext cx="4846320" cy="1005840"/>
          </a:xfrm>
          <a:prstGeom prst="rect">
            <a:avLst/>
          </a:prstGeom>
          <a:noFill/>
          <a:ln/>
        </p:spPr>
        <p:txBody>
          <a:bodyPr wrap="square" lIns="0" tIns="0" rIns="0" bIns="0" rtlCol="0" anchor="ctr"/>
          <a:lstStyle/>
          <a:p>
            <a:pPr indent="0" marL="0">
              <a:lnSpc>
                <a:spcPct val="120000"/>
              </a:lnSpc>
              <a:buNone/>
            </a:pPr>
            <a:r>
              <a:rPr lang="en-US" sz="1150" dirty="0">
                <a:solidFill>
                  <a:srgbClr val="50606E"/>
                </a:solidFill>
                <a:latin typeface="Calibri" pitchFamily="34" charset="0"/>
                <a:ea typeface="Calibri" pitchFamily="34" charset="-122"/>
                <a:cs typeface="Calibri" pitchFamily="34" charset="-120"/>
              </a:rPr>
              <a:t>When telephony isn't integrated with CRM, agents and supervisors lack real-time visibility into call queues and outcomes.</a:t>
            </a:r>
            <a:endParaRPr lang="en-US" sz="1150" dirty="0"/>
          </a:p>
        </p:txBody>
      </p:sp>
      <p:sp>
        <p:nvSpPr>
          <p:cNvPr id="14" name="Shape 12"/>
          <p:cNvSpPr/>
          <p:nvPr/>
        </p:nvSpPr>
        <p:spPr>
          <a:xfrm>
            <a:off x="548640" y="3749040"/>
            <a:ext cx="5486400" cy="1965960"/>
          </a:xfrm>
          <a:prstGeom prst="roundRect">
            <a:avLst>
              <a:gd name="adj" fmla="val 3721"/>
            </a:avLst>
          </a:prstGeom>
          <a:solidFill>
            <a:srgbClr val="F7FAFD"/>
          </a:solidFill>
          <a:ln w="12700">
            <a:solidFill>
              <a:srgbClr val="DCE9F7"/>
            </a:solidFill>
            <a:prstDash val="solid"/>
          </a:ln>
        </p:spPr>
      </p:sp>
      <p:sp>
        <p:nvSpPr>
          <p:cNvPr id="15" name="Shape 13"/>
          <p:cNvSpPr/>
          <p:nvPr/>
        </p:nvSpPr>
        <p:spPr>
          <a:xfrm>
            <a:off x="754380" y="4000500"/>
            <a:ext cx="502920" cy="502920"/>
          </a:xfrm>
          <a:prstGeom prst="ellipse">
            <a:avLst/>
          </a:prstGeom>
          <a:solidFill>
            <a:srgbClr val="1B3A6B"/>
          </a:solidFill>
          <a:ln/>
        </p:spPr>
      </p:sp>
      <p:sp>
        <p:nvSpPr>
          <p:cNvPr id="16" name="Text 14"/>
          <p:cNvSpPr/>
          <p:nvPr/>
        </p:nvSpPr>
        <p:spPr>
          <a:xfrm>
            <a:off x="754380" y="400050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3</a:t>
            </a:r>
            <a:endParaRPr lang="en-US" sz="1430" dirty="0"/>
          </a:p>
        </p:txBody>
      </p:sp>
      <p:sp>
        <p:nvSpPr>
          <p:cNvPr id="17" name="Text 15"/>
          <p:cNvSpPr/>
          <p:nvPr/>
        </p:nvSpPr>
        <p:spPr>
          <a:xfrm>
            <a:off x="1463040" y="3968496"/>
            <a:ext cx="4343400" cy="457200"/>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Field Accountability Gaps</a:t>
            </a:r>
            <a:endParaRPr lang="en-US" sz="1450" dirty="0"/>
          </a:p>
        </p:txBody>
      </p:sp>
      <p:sp>
        <p:nvSpPr>
          <p:cNvPr id="18" name="Text 16"/>
          <p:cNvSpPr/>
          <p:nvPr/>
        </p:nvSpPr>
        <p:spPr>
          <a:xfrm>
            <a:off x="868680" y="4617720"/>
            <a:ext cx="4846320" cy="1005840"/>
          </a:xfrm>
          <a:prstGeom prst="rect">
            <a:avLst/>
          </a:prstGeom>
          <a:noFill/>
          <a:ln/>
        </p:spPr>
        <p:txBody>
          <a:bodyPr wrap="square" lIns="0" tIns="0" rIns="0" bIns="0" rtlCol="0" anchor="ctr"/>
          <a:lstStyle/>
          <a:p>
            <a:pPr indent="0" marL="0">
              <a:lnSpc>
                <a:spcPct val="120000"/>
              </a:lnSpc>
              <a:buNone/>
            </a:pPr>
            <a:r>
              <a:rPr lang="en-US" sz="1150" dirty="0">
                <a:solidFill>
                  <a:srgbClr val="50606E"/>
                </a:solidFill>
                <a:latin typeface="Calibri" pitchFamily="34" charset="0"/>
                <a:ea typeface="Calibri" pitchFamily="34" charset="-122"/>
                <a:cs typeface="Calibri" pitchFamily="34" charset="-120"/>
              </a:rPr>
              <a:t>Manual attendance and visit-logging for field teams are prone to inaccuracies, limiting accountability.</a:t>
            </a:r>
            <a:endParaRPr lang="en-US" sz="1150" dirty="0"/>
          </a:p>
        </p:txBody>
      </p:sp>
      <p:sp>
        <p:nvSpPr>
          <p:cNvPr id="19" name="Shape 17"/>
          <p:cNvSpPr/>
          <p:nvPr/>
        </p:nvSpPr>
        <p:spPr>
          <a:xfrm>
            <a:off x="6263640" y="3749040"/>
            <a:ext cx="5486400" cy="1965960"/>
          </a:xfrm>
          <a:prstGeom prst="roundRect">
            <a:avLst>
              <a:gd name="adj" fmla="val 3721"/>
            </a:avLst>
          </a:prstGeom>
          <a:solidFill>
            <a:srgbClr val="F7FAFD"/>
          </a:solidFill>
          <a:ln w="12700">
            <a:solidFill>
              <a:srgbClr val="DCE9F7"/>
            </a:solidFill>
            <a:prstDash val="solid"/>
          </a:ln>
        </p:spPr>
      </p:sp>
      <p:sp>
        <p:nvSpPr>
          <p:cNvPr id="20" name="Shape 18"/>
          <p:cNvSpPr/>
          <p:nvPr/>
        </p:nvSpPr>
        <p:spPr>
          <a:xfrm>
            <a:off x="6469380" y="4000500"/>
            <a:ext cx="502920" cy="502920"/>
          </a:xfrm>
          <a:prstGeom prst="ellipse">
            <a:avLst/>
          </a:prstGeom>
          <a:solidFill>
            <a:srgbClr val="1B3A6B"/>
          </a:solidFill>
          <a:ln/>
        </p:spPr>
      </p:sp>
      <p:sp>
        <p:nvSpPr>
          <p:cNvPr id="21" name="Text 19"/>
          <p:cNvSpPr/>
          <p:nvPr/>
        </p:nvSpPr>
        <p:spPr>
          <a:xfrm>
            <a:off x="6469380" y="4000500"/>
            <a:ext cx="502920" cy="502920"/>
          </a:xfrm>
          <a:prstGeom prst="rect">
            <a:avLst/>
          </a:prstGeom>
          <a:noFill/>
          <a:ln/>
        </p:spPr>
        <p:txBody>
          <a:bodyPr wrap="square" lIns="0" tIns="0" rIns="0" bIns="0" rtlCol="0" anchor="ctr"/>
          <a:lstStyle/>
          <a:p>
            <a:pPr algn="ctr" indent="0" marL="0">
              <a:buNone/>
            </a:pPr>
            <a:r>
              <a:rPr lang="en-US" sz="1430" b="1" dirty="0">
                <a:solidFill>
                  <a:srgbClr val="FFFFFF"/>
                </a:solidFill>
                <a:latin typeface="Calibri" pitchFamily="34" charset="0"/>
                <a:ea typeface="Calibri" pitchFamily="34" charset="-122"/>
                <a:cs typeface="Calibri" pitchFamily="34" charset="-120"/>
              </a:rPr>
              <a:t>4</a:t>
            </a:r>
            <a:endParaRPr lang="en-US" sz="1430" dirty="0"/>
          </a:p>
        </p:txBody>
      </p:sp>
      <p:sp>
        <p:nvSpPr>
          <p:cNvPr id="22" name="Text 20"/>
          <p:cNvSpPr/>
          <p:nvPr/>
        </p:nvSpPr>
        <p:spPr>
          <a:xfrm>
            <a:off x="7178040" y="3968496"/>
            <a:ext cx="4343400" cy="457200"/>
          </a:xfrm>
          <a:prstGeom prst="rect">
            <a:avLst/>
          </a:prstGeom>
          <a:noFill/>
          <a:ln/>
        </p:spPr>
        <p:txBody>
          <a:bodyPr wrap="square" lIns="0" tIns="0" rIns="0" bIns="0" rtlCol="0" anchor="ctr"/>
          <a:lstStyle/>
          <a:p>
            <a:pPr indent="0" marL="0">
              <a:buNone/>
            </a:pPr>
            <a:r>
              <a:rPr lang="en-US" sz="1450" b="1" dirty="0">
                <a:solidFill>
                  <a:srgbClr val="12294D"/>
                </a:solidFill>
                <a:latin typeface="Calibri" pitchFamily="34" charset="0"/>
                <a:ea typeface="Calibri" pitchFamily="34" charset="-122"/>
                <a:cs typeface="Calibri" pitchFamily="34" charset="-120"/>
              </a:rPr>
              <a:t>Unstructured Support</a:t>
            </a:r>
            <a:endParaRPr lang="en-US" sz="1450" dirty="0"/>
          </a:p>
        </p:txBody>
      </p:sp>
      <p:sp>
        <p:nvSpPr>
          <p:cNvPr id="23" name="Text 21"/>
          <p:cNvSpPr/>
          <p:nvPr/>
        </p:nvSpPr>
        <p:spPr>
          <a:xfrm>
            <a:off x="6583680" y="4617720"/>
            <a:ext cx="4846320" cy="1005840"/>
          </a:xfrm>
          <a:prstGeom prst="rect">
            <a:avLst/>
          </a:prstGeom>
          <a:noFill/>
          <a:ln/>
        </p:spPr>
        <p:txBody>
          <a:bodyPr wrap="square" lIns="0" tIns="0" rIns="0" bIns="0" rtlCol="0" anchor="ctr"/>
          <a:lstStyle/>
          <a:p>
            <a:pPr indent="0" marL="0">
              <a:lnSpc>
                <a:spcPct val="120000"/>
              </a:lnSpc>
              <a:buNone/>
            </a:pPr>
            <a:r>
              <a:rPr lang="en-US" sz="1150" dirty="0">
                <a:solidFill>
                  <a:srgbClr val="50606E"/>
                </a:solidFill>
                <a:latin typeface="Calibri" pitchFamily="34" charset="0"/>
                <a:ea typeface="Calibri" pitchFamily="34" charset="-122"/>
                <a:cs typeface="Calibri" pitchFamily="34" charset="-120"/>
              </a:rPr>
              <a:t>Helpdesk functions outside a structured ticketing/SLA framework suffer missed deadlines and inconsistent escalation.</a:t>
            </a:r>
            <a:endParaRPr lang="en-US" sz="1150" dirty="0"/>
          </a:p>
        </p:txBody>
      </p:sp>
      <p:sp>
        <p:nvSpPr>
          <p:cNvPr id="24" name="Text 22"/>
          <p:cNvSpPr/>
          <p:nvPr/>
        </p:nvSpPr>
        <p:spPr>
          <a:xfrm>
            <a:off x="548640" y="5806440"/>
            <a:ext cx="11064240" cy="365760"/>
          </a:xfrm>
          <a:prstGeom prst="rect">
            <a:avLst/>
          </a:prstGeom>
          <a:noFill/>
          <a:ln/>
        </p:spPr>
        <p:txBody>
          <a:bodyPr wrap="square" lIns="0" tIns="0" rIns="0" bIns="0" rtlCol="0" anchor="ctr"/>
          <a:lstStyle/>
          <a:p>
            <a:pPr indent="0" marL="0">
              <a:buNone/>
            </a:pPr>
            <a:r>
              <a:rPr lang="en-US" sz="1250" i="1" dirty="0">
                <a:solidFill>
                  <a:srgbClr val="1791A6"/>
                </a:solidFill>
                <a:latin typeface="Calibri" pitchFamily="34" charset="0"/>
                <a:ea typeface="Calibri" pitchFamily="34" charset="-122"/>
                <a:cs typeface="Calibri" pitchFamily="34" charset="-120"/>
              </a:rPr>
              <a:t>LeadOne 2.0 addresses these interconnected problems within a single, modular enterprise application.</a:t>
            </a:r>
            <a:endParaRPr lang="en-US" sz="1250" dirty="0"/>
          </a:p>
        </p:txBody>
      </p:sp>
      <p:sp>
        <p:nvSpPr>
          <p:cNvPr id="25" name="Text 23"/>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Project Objectives</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Broad goals of the LeadOne 2.0 platform</a:t>
            </a:r>
            <a:endParaRPr lang="en-US" sz="1350" dirty="0"/>
          </a:p>
        </p:txBody>
      </p:sp>
      <p:sp>
        <p:nvSpPr>
          <p:cNvPr id="4" name="Shape 2"/>
          <p:cNvSpPr/>
          <p:nvPr/>
        </p:nvSpPr>
        <p:spPr>
          <a:xfrm>
            <a:off x="676656" y="1691640"/>
            <a:ext cx="384048" cy="384048"/>
          </a:xfrm>
          <a:prstGeom prst="ellipse">
            <a:avLst/>
          </a:prstGeom>
          <a:solidFill>
            <a:srgbClr val="1B3A6B"/>
          </a:solidFill>
          <a:ln/>
        </p:spPr>
      </p:sp>
      <p:sp>
        <p:nvSpPr>
          <p:cNvPr id="5" name="Text 3"/>
          <p:cNvSpPr/>
          <p:nvPr/>
        </p:nvSpPr>
        <p:spPr>
          <a:xfrm>
            <a:off x="676656" y="169164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6" name="Text 4"/>
          <p:cNvSpPr/>
          <p:nvPr/>
        </p:nvSpPr>
        <p:spPr>
          <a:xfrm>
            <a:off x="1234440" y="1572768"/>
            <a:ext cx="10332720" cy="621792"/>
          </a:xfrm>
          <a:prstGeom prst="rect">
            <a:avLst/>
          </a:prstGeom>
          <a:noFill/>
          <a:ln/>
        </p:spPr>
        <p:txBody>
          <a:bodyPr wrap="square" lIns="0" tIns="0" rIns="0" bIns="0" rtlCol="0" anchor="ctr"/>
          <a:lstStyle/>
          <a:p>
            <a:pPr indent="0" marL="0">
              <a:buNone/>
            </a:pPr>
            <a:r>
              <a:rPr lang="en-US" sz="1350" dirty="0">
                <a:solidFill>
                  <a:srgbClr val="12294D"/>
                </a:solidFill>
                <a:latin typeface="Calibri" pitchFamily="34" charset="0"/>
                <a:ea typeface="Calibri" pitchFamily="34" charset="-122"/>
                <a:cs typeface="Calibri" pitchFamily="34" charset="-120"/>
              </a:rPr>
              <a:t>Provide a centralized system for capturing, tracking, and managing leads across their full lifecycle.</a:t>
            </a:r>
            <a:endParaRPr lang="en-US" sz="1350" dirty="0"/>
          </a:p>
        </p:txBody>
      </p:sp>
      <p:sp>
        <p:nvSpPr>
          <p:cNvPr id="7" name="Shape 5"/>
          <p:cNvSpPr/>
          <p:nvPr/>
        </p:nvSpPr>
        <p:spPr>
          <a:xfrm>
            <a:off x="676656" y="2313432"/>
            <a:ext cx="384048" cy="384048"/>
          </a:xfrm>
          <a:prstGeom prst="ellipse">
            <a:avLst/>
          </a:prstGeom>
          <a:solidFill>
            <a:srgbClr val="1791A6"/>
          </a:solidFill>
          <a:ln/>
        </p:spPr>
      </p:sp>
      <p:sp>
        <p:nvSpPr>
          <p:cNvPr id="8" name="Text 6"/>
          <p:cNvSpPr/>
          <p:nvPr/>
        </p:nvSpPr>
        <p:spPr>
          <a:xfrm>
            <a:off x="676656" y="2313432"/>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9" name="Text 7"/>
          <p:cNvSpPr/>
          <p:nvPr/>
        </p:nvSpPr>
        <p:spPr>
          <a:xfrm>
            <a:off x="1234440" y="2194560"/>
            <a:ext cx="10332720" cy="621792"/>
          </a:xfrm>
          <a:prstGeom prst="rect">
            <a:avLst/>
          </a:prstGeom>
          <a:noFill/>
          <a:ln/>
        </p:spPr>
        <p:txBody>
          <a:bodyPr wrap="square" lIns="0" tIns="0" rIns="0" bIns="0" rtlCol="0" anchor="ctr"/>
          <a:lstStyle/>
          <a:p>
            <a:pPr indent="0" marL="0">
              <a:buNone/>
            </a:pPr>
            <a:r>
              <a:rPr lang="en-US" sz="1350" dirty="0">
                <a:solidFill>
                  <a:srgbClr val="12294D"/>
                </a:solidFill>
                <a:latin typeface="Calibri" pitchFamily="34" charset="0"/>
                <a:ea typeface="Calibri" pitchFamily="34" charset="-122"/>
                <a:cs typeface="Calibri" pitchFamily="34" charset="-120"/>
              </a:rPr>
              <a:t>Integrate cloud telephony directly with the CRM for call handling, live queue monitoring, and disposition tracking.</a:t>
            </a:r>
            <a:endParaRPr lang="en-US" sz="1350" dirty="0"/>
          </a:p>
        </p:txBody>
      </p:sp>
      <p:sp>
        <p:nvSpPr>
          <p:cNvPr id="10" name="Shape 8"/>
          <p:cNvSpPr/>
          <p:nvPr/>
        </p:nvSpPr>
        <p:spPr>
          <a:xfrm>
            <a:off x="676656" y="2935224"/>
            <a:ext cx="384048" cy="384048"/>
          </a:xfrm>
          <a:prstGeom prst="ellipse">
            <a:avLst/>
          </a:prstGeom>
          <a:solidFill>
            <a:srgbClr val="1B3A6B"/>
          </a:solidFill>
          <a:ln/>
        </p:spPr>
      </p:sp>
      <p:sp>
        <p:nvSpPr>
          <p:cNvPr id="11" name="Text 9"/>
          <p:cNvSpPr/>
          <p:nvPr/>
        </p:nvSpPr>
        <p:spPr>
          <a:xfrm>
            <a:off x="676656" y="2935224"/>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2" name="Text 10"/>
          <p:cNvSpPr/>
          <p:nvPr/>
        </p:nvSpPr>
        <p:spPr>
          <a:xfrm>
            <a:off x="1234440" y="2816352"/>
            <a:ext cx="10332720" cy="621792"/>
          </a:xfrm>
          <a:prstGeom prst="rect">
            <a:avLst/>
          </a:prstGeom>
          <a:noFill/>
          <a:ln/>
        </p:spPr>
        <p:txBody>
          <a:bodyPr wrap="square" lIns="0" tIns="0" rIns="0" bIns="0" rtlCol="0" anchor="ctr"/>
          <a:lstStyle/>
          <a:p>
            <a:pPr indent="0" marL="0">
              <a:buNone/>
            </a:pPr>
            <a:r>
              <a:rPr lang="en-US" sz="1350" dirty="0">
                <a:solidFill>
                  <a:srgbClr val="12294D"/>
                </a:solidFill>
                <a:latin typeface="Calibri" pitchFamily="34" charset="0"/>
                <a:ea typeface="Calibri" pitchFamily="34" charset="-122"/>
                <a:cs typeface="Calibri" pitchFamily="34" charset="-120"/>
              </a:rPr>
              <a:t>Extend CRM functionality to mobile via an Android call logger and dedicated mobile API.</a:t>
            </a:r>
            <a:endParaRPr lang="en-US" sz="1350" dirty="0"/>
          </a:p>
        </p:txBody>
      </p:sp>
      <p:sp>
        <p:nvSpPr>
          <p:cNvPr id="13" name="Shape 11"/>
          <p:cNvSpPr/>
          <p:nvPr/>
        </p:nvSpPr>
        <p:spPr>
          <a:xfrm>
            <a:off x="676656" y="3557016"/>
            <a:ext cx="384048" cy="384048"/>
          </a:xfrm>
          <a:prstGeom prst="ellipse">
            <a:avLst/>
          </a:prstGeom>
          <a:solidFill>
            <a:srgbClr val="1791A6"/>
          </a:solidFill>
          <a:ln/>
        </p:spPr>
      </p:sp>
      <p:sp>
        <p:nvSpPr>
          <p:cNvPr id="14" name="Text 12"/>
          <p:cNvSpPr/>
          <p:nvPr/>
        </p:nvSpPr>
        <p:spPr>
          <a:xfrm>
            <a:off x="676656" y="3557016"/>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4</a:t>
            </a:r>
            <a:endParaRPr lang="en-US" sz="1092" dirty="0"/>
          </a:p>
        </p:txBody>
      </p:sp>
      <p:sp>
        <p:nvSpPr>
          <p:cNvPr id="15" name="Text 13"/>
          <p:cNvSpPr/>
          <p:nvPr/>
        </p:nvSpPr>
        <p:spPr>
          <a:xfrm>
            <a:off x="1234440" y="3438144"/>
            <a:ext cx="10332720" cy="621792"/>
          </a:xfrm>
          <a:prstGeom prst="rect">
            <a:avLst/>
          </a:prstGeom>
          <a:noFill/>
          <a:ln/>
        </p:spPr>
        <p:txBody>
          <a:bodyPr wrap="square" lIns="0" tIns="0" rIns="0" bIns="0" rtlCol="0" anchor="ctr"/>
          <a:lstStyle/>
          <a:p>
            <a:pPr indent="0" marL="0">
              <a:buNone/>
            </a:pPr>
            <a:r>
              <a:rPr lang="en-US" sz="1350" dirty="0">
                <a:solidFill>
                  <a:srgbClr val="12294D"/>
                </a:solidFill>
                <a:latin typeface="Calibri" pitchFamily="34" charset="0"/>
                <a:ea typeface="Calibri" pitchFamily="34" charset="-122"/>
                <a:cs typeface="Calibri" pitchFamily="34" charset="-120"/>
              </a:rPr>
              <a:t>Enable geofenced, GPS-based attendance and field-visit logging for on-ground executives.</a:t>
            </a:r>
            <a:endParaRPr lang="en-US" sz="1350" dirty="0"/>
          </a:p>
        </p:txBody>
      </p:sp>
      <p:sp>
        <p:nvSpPr>
          <p:cNvPr id="16" name="Shape 14"/>
          <p:cNvSpPr/>
          <p:nvPr/>
        </p:nvSpPr>
        <p:spPr>
          <a:xfrm>
            <a:off x="676656" y="4178808"/>
            <a:ext cx="384048" cy="384048"/>
          </a:xfrm>
          <a:prstGeom prst="ellipse">
            <a:avLst/>
          </a:prstGeom>
          <a:solidFill>
            <a:srgbClr val="1B3A6B"/>
          </a:solidFill>
          <a:ln/>
        </p:spPr>
      </p:sp>
      <p:sp>
        <p:nvSpPr>
          <p:cNvPr id="17" name="Text 15"/>
          <p:cNvSpPr/>
          <p:nvPr/>
        </p:nvSpPr>
        <p:spPr>
          <a:xfrm>
            <a:off x="676656" y="4178808"/>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5</a:t>
            </a:r>
            <a:endParaRPr lang="en-US" sz="1092" dirty="0"/>
          </a:p>
        </p:txBody>
      </p:sp>
      <p:sp>
        <p:nvSpPr>
          <p:cNvPr id="18" name="Text 16"/>
          <p:cNvSpPr/>
          <p:nvPr/>
        </p:nvSpPr>
        <p:spPr>
          <a:xfrm>
            <a:off x="1234440" y="4059936"/>
            <a:ext cx="10332720" cy="621792"/>
          </a:xfrm>
          <a:prstGeom prst="rect">
            <a:avLst/>
          </a:prstGeom>
          <a:noFill/>
          <a:ln/>
        </p:spPr>
        <p:txBody>
          <a:bodyPr wrap="square" lIns="0" tIns="0" rIns="0" bIns="0" rtlCol="0" anchor="ctr"/>
          <a:lstStyle/>
          <a:p>
            <a:pPr indent="0" marL="0">
              <a:buNone/>
            </a:pPr>
            <a:r>
              <a:rPr lang="en-US" sz="1350" dirty="0">
                <a:solidFill>
                  <a:srgbClr val="12294D"/>
                </a:solidFill>
                <a:latin typeface="Calibri" pitchFamily="34" charset="0"/>
                <a:ea typeface="Calibri" pitchFamily="34" charset="-122"/>
                <a:cs typeface="Calibri" pitchFamily="34" charset="-120"/>
              </a:rPr>
              <a:t>Provide a structured helpdesk and SLA engine for ticket management and automated escalation.</a:t>
            </a:r>
            <a:endParaRPr lang="en-US" sz="1350" dirty="0"/>
          </a:p>
        </p:txBody>
      </p:sp>
      <p:sp>
        <p:nvSpPr>
          <p:cNvPr id="19" name="Shape 17"/>
          <p:cNvSpPr/>
          <p:nvPr/>
        </p:nvSpPr>
        <p:spPr>
          <a:xfrm>
            <a:off x="676656" y="4800600"/>
            <a:ext cx="384048" cy="384048"/>
          </a:xfrm>
          <a:prstGeom prst="ellipse">
            <a:avLst/>
          </a:prstGeom>
          <a:solidFill>
            <a:srgbClr val="1791A6"/>
          </a:solidFill>
          <a:ln/>
        </p:spPr>
      </p:sp>
      <p:sp>
        <p:nvSpPr>
          <p:cNvPr id="20" name="Text 18"/>
          <p:cNvSpPr/>
          <p:nvPr/>
        </p:nvSpPr>
        <p:spPr>
          <a:xfrm>
            <a:off x="676656" y="480060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6</a:t>
            </a:r>
            <a:endParaRPr lang="en-US" sz="1092" dirty="0"/>
          </a:p>
        </p:txBody>
      </p:sp>
      <p:sp>
        <p:nvSpPr>
          <p:cNvPr id="21" name="Text 19"/>
          <p:cNvSpPr/>
          <p:nvPr/>
        </p:nvSpPr>
        <p:spPr>
          <a:xfrm>
            <a:off x="1234440" y="4681728"/>
            <a:ext cx="10332720" cy="621792"/>
          </a:xfrm>
          <a:prstGeom prst="rect">
            <a:avLst/>
          </a:prstGeom>
          <a:noFill/>
          <a:ln/>
        </p:spPr>
        <p:txBody>
          <a:bodyPr wrap="square" lIns="0" tIns="0" rIns="0" bIns="0" rtlCol="0" anchor="ctr"/>
          <a:lstStyle/>
          <a:p>
            <a:pPr indent="0" marL="0">
              <a:buNone/>
            </a:pPr>
            <a:r>
              <a:rPr lang="en-US" sz="1350" dirty="0">
                <a:solidFill>
                  <a:srgbClr val="12294D"/>
                </a:solidFill>
                <a:latin typeface="Calibri" pitchFamily="34" charset="0"/>
                <a:ea typeface="Calibri" pitchFamily="34" charset="-122"/>
                <a:cs typeface="Calibri" pitchFamily="34" charset="-120"/>
              </a:rPr>
              <a:t>Track agent performance through break management, violation logging, and compliance reporting.</a:t>
            </a:r>
            <a:endParaRPr lang="en-US" sz="1350" dirty="0"/>
          </a:p>
        </p:txBody>
      </p:sp>
      <p:sp>
        <p:nvSpPr>
          <p:cNvPr id="22" name="Shape 20"/>
          <p:cNvSpPr/>
          <p:nvPr/>
        </p:nvSpPr>
        <p:spPr>
          <a:xfrm>
            <a:off x="676656" y="5422392"/>
            <a:ext cx="384048" cy="384048"/>
          </a:xfrm>
          <a:prstGeom prst="ellipse">
            <a:avLst/>
          </a:prstGeom>
          <a:solidFill>
            <a:srgbClr val="1B3A6B"/>
          </a:solidFill>
          <a:ln/>
        </p:spPr>
      </p:sp>
      <p:sp>
        <p:nvSpPr>
          <p:cNvPr id="23" name="Text 21"/>
          <p:cNvSpPr/>
          <p:nvPr/>
        </p:nvSpPr>
        <p:spPr>
          <a:xfrm>
            <a:off x="676656" y="5422392"/>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7</a:t>
            </a:r>
            <a:endParaRPr lang="en-US" sz="1092" dirty="0"/>
          </a:p>
        </p:txBody>
      </p:sp>
      <p:sp>
        <p:nvSpPr>
          <p:cNvPr id="24" name="Text 22"/>
          <p:cNvSpPr/>
          <p:nvPr/>
        </p:nvSpPr>
        <p:spPr>
          <a:xfrm>
            <a:off x="1234440" y="5303520"/>
            <a:ext cx="10332720" cy="621792"/>
          </a:xfrm>
          <a:prstGeom prst="rect">
            <a:avLst/>
          </a:prstGeom>
          <a:noFill/>
          <a:ln/>
        </p:spPr>
        <p:txBody>
          <a:bodyPr wrap="square" lIns="0" tIns="0" rIns="0" bIns="0" rtlCol="0" anchor="ctr"/>
          <a:lstStyle/>
          <a:p>
            <a:pPr indent="0" marL="0">
              <a:buNone/>
            </a:pPr>
            <a:r>
              <a:rPr lang="en-US" sz="1350" dirty="0">
                <a:solidFill>
                  <a:srgbClr val="12294D"/>
                </a:solidFill>
                <a:latin typeface="Calibri" pitchFamily="34" charset="0"/>
                <a:ea typeface="Calibri" pitchFamily="34" charset="-122"/>
                <a:cs typeface="Calibri" pitchFamily="34" charset="-120"/>
              </a:rPr>
              <a:t>Support configurable workflow automation and system-level diagnostics for maintainability.</a:t>
            </a:r>
            <a:endParaRPr lang="en-US" sz="1350" dirty="0"/>
          </a:p>
        </p:txBody>
      </p:sp>
      <p:sp>
        <p:nvSpPr>
          <p:cNvPr id="25" name="Text 23"/>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Scope of the Project</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Seven functional areas &amp; my personal contribution</a:t>
            </a:r>
            <a:endParaRPr lang="en-US" sz="1350" dirty="0"/>
          </a:p>
        </p:txBody>
      </p:sp>
      <p:sp>
        <p:nvSpPr>
          <p:cNvPr id="4" name="Shape 2"/>
          <p:cNvSpPr/>
          <p:nvPr/>
        </p:nvSpPr>
        <p:spPr>
          <a:xfrm>
            <a:off x="548640" y="1554480"/>
            <a:ext cx="2606040" cy="1371600"/>
          </a:xfrm>
          <a:prstGeom prst="roundRect">
            <a:avLst>
              <a:gd name="adj" fmla="val 5333"/>
            </a:avLst>
          </a:prstGeom>
          <a:solidFill>
            <a:srgbClr val="1B3A6B"/>
          </a:solidFill>
          <a:ln/>
        </p:spPr>
      </p:sp>
      <p:sp>
        <p:nvSpPr>
          <p:cNvPr id="5" name="Text 3"/>
          <p:cNvSpPr/>
          <p:nvPr/>
        </p:nvSpPr>
        <p:spPr>
          <a:xfrm>
            <a:off x="685800" y="1691640"/>
            <a:ext cx="2331720"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Lead Management</a:t>
            </a:r>
            <a:endParaRPr lang="en-US" sz="1200" dirty="0"/>
          </a:p>
        </p:txBody>
      </p:sp>
      <p:sp>
        <p:nvSpPr>
          <p:cNvPr id="6" name="Shape 4"/>
          <p:cNvSpPr/>
          <p:nvPr/>
        </p:nvSpPr>
        <p:spPr>
          <a:xfrm>
            <a:off x="3337560" y="1554480"/>
            <a:ext cx="2606040" cy="1371600"/>
          </a:xfrm>
          <a:prstGeom prst="roundRect">
            <a:avLst>
              <a:gd name="adj" fmla="val 5333"/>
            </a:avLst>
          </a:prstGeom>
          <a:solidFill>
            <a:srgbClr val="1B3A6B"/>
          </a:solidFill>
          <a:ln/>
        </p:spPr>
      </p:sp>
      <p:sp>
        <p:nvSpPr>
          <p:cNvPr id="7" name="Text 5"/>
          <p:cNvSpPr/>
          <p:nvPr/>
        </p:nvSpPr>
        <p:spPr>
          <a:xfrm>
            <a:off x="3474720" y="1691640"/>
            <a:ext cx="2331720"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Cloud Telephony &amp;</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Call Center</a:t>
            </a:r>
            <a:endParaRPr lang="en-US" sz="1200" dirty="0"/>
          </a:p>
        </p:txBody>
      </p:sp>
      <p:sp>
        <p:nvSpPr>
          <p:cNvPr id="8" name="Shape 6"/>
          <p:cNvSpPr/>
          <p:nvPr/>
        </p:nvSpPr>
        <p:spPr>
          <a:xfrm>
            <a:off x="6126480" y="1554480"/>
            <a:ext cx="2606040" cy="1371600"/>
          </a:xfrm>
          <a:prstGeom prst="roundRect">
            <a:avLst>
              <a:gd name="adj" fmla="val 5333"/>
            </a:avLst>
          </a:prstGeom>
          <a:solidFill>
            <a:srgbClr val="1B3A6B"/>
          </a:solidFill>
          <a:ln/>
        </p:spPr>
      </p:sp>
      <p:sp>
        <p:nvSpPr>
          <p:cNvPr id="9" name="Text 7"/>
          <p:cNvSpPr/>
          <p:nvPr/>
        </p:nvSpPr>
        <p:spPr>
          <a:xfrm>
            <a:off x="6263640" y="1691640"/>
            <a:ext cx="2331720"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Android Call Logger &amp;</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Mobile API</a:t>
            </a:r>
            <a:endParaRPr lang="en-US" sz="1200" dirty="0"/>
          </a:p>
        </p:txBody>
      </p:sp>
      <p:sp>
        <p:nvSpPr>
          <p:cNvPr id="10" name="Shape 8"/>
          <p:cNvSpPr/>
          <p:nvPr/>
        </p:nvSpPr>
        <p:spPr>
          <a:xfrm>
            <a:off x="8915400" y="1554480"/>
            <a:ext cx="2606040" cy="1371600"/>
          </a:xfrm>
          <a:prstGeom prst="roundRect">
            <a:avLst>
              <a:gd name="adj" fmla="val 5333"/>
            </a:avLst>
          </a:prstGeom>
          <a:solidFill>
            <a:srgbClr val="1B3A6B"/>
          </a:solidFill>
          <a:ln/>
        </p:spPr>
      </p:sp>
      <p:sp>
        <p:nvSpPr>
          <p:cNvPr id="11" name="Text 9"/>
          <p:cNvSpPr/>
          <p:nvPr/>
        </p:nvSpPr>
        <p:spPr>
          <a:xfrm>
            <a:off x="9052560" y="1691640"/>
            <a:ext cx="2331720"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Geofenced Attendance &amp;</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Field Interaction</a:t>
            </a:r>
            <a:endParaRPr lang="en-US" sz="1200" dirty="0"/>
          </a:p>
        </p:txBody>
      </p:sp>
      <p:sp>
        <p:nvSpPr>
          <p:cNvPr id="12" name="Shape 10"/>
          <p:cNvSpPr/>
          <p:nvPr/>
        </p:nvSpPr>
        <p:spPr>
          <a:xfrm>
            <a:off x="548640" y="3108960"/>
            <a:ext cx="2606040" cy="1371600"/>
          </a:xfrm>
          <a:prstGeom prst="roundRect">
            <a:avLst>
              <a:gd name="adj" fmla="val 5333"/>
            </a:avLst>
          </a:prstGeom>
          <a:solidFill>
            <a:srgbClr val="EAF1FA"/>
          </a:solidFill>
          <a:ln/>
        </p:spPr>
      </p:sp>
      <p:sp>
        <p:nvSpPr>
          <p:cNvPr id="13" name="Text 11"/>
          <p:cNvSpPr/>
          <p:nvPr/>
        </p:nvSpPr>
        <p:spPr>
          <a:xfrm>
            <a:off x="685800" y="3246120"/>
            <a:ext cx="2331720"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Helpdesk &amp; SLA Engine</a:t>
            </a:r>
            <a:endParaRPr lang="en-US" sz="1200" dirty="0"/>
          </a:p>
        </p:txBody>
      </p:sp>
      <p:sp>
        <p:nvSpPr>
          <p:cNvPr id="14" name="Shape 12"/>
          <p:cNvSpPr/>
          <p:nvPr/>
        </p:nvSpPr>
        <p:spPr>
          <a:xfrm>
            <a:off x="3337560" y="3108960"/>
            <a:ext cx="2606040" cy="1371600"/>
          </a:xfrm>
          <a:prstGeom prst="roundRect">
            <a:avLst>
              <a:gd name="adj" fmla="val 5333"/>
            </a:avLst>
          </a:prstGeom>
          <a:solidFill>
            <a:srgbClr val="EAF1FA"/>
          </a:solidFill>
          <a:ln/>
        </p:spPr>
      </p:sp>
      <p:sp>
        <p:nvSpPr>
          <p:cNvPr id="15" name="Text 13"/>
          <p:cNvSpPr/>
          <p:nvPr/>
        </p:nvSpPr>
        <p:spPr>
          <a:xfrm>
            <a:off x="3474720" y="3246120"/>
            <a:ext cx="2331720"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Agent Performance</a:t>
            </a:r>
            <a:endParaRPr lang="en-US" sz="1200" dirty="0"/>
          </a:p>
        </p:txBody>
      </p:sp>
      <p:sp>
        <p:nvSpPr>
          <p:cNvPr id="16" name="Shape 14"/>
          <p:cNvSpPr/>
          <p:nvPr/>
        </p:nvSpPr>
        <p:spPr>
          <a:xfrm>
            <a:off x="6126480" y="3108960"/>
            <a:ext cx="2606040" cy="1371600"/>
          </a:xfrm>
          <a:prstGeom prst="roundRect">
            <a:avLst>
              <a:gd name="adj" fmla="val 5333"/>
            </a:avLst>
          </a:prstGeom>
          <a:solidFill>
            <a:srgbClr val="EAF1FA"/>
          </a:solidFill>
          <a:ln/>
        </p:spPr>
      </p:sp>
      <p:sp>
        <p:nvSpPr>
          <p:cNvPr id="17" name="Text 15"/>
          <p:cNvSpPr/>
          <p:nvPr/>
        </p:nvSpPr>
        <p:spPr>
          <a:xfrm>
            <a:off x="6263640" y="3246120"/>
            <a:ext cx="2331720" cy="1097280"/>
          </a:xfrm>
          <a:prstGeom prst="rect">
            <a:avLst/>
          </a:prstGeom>
          <a:noFill/>
          <a:ln/>
        </p:spPr>
        <p:txBody>
          <a:bodyPr wrap="square" lIns="0" tIns="0" rIns="0" bIns="0" rtlCol="0" anchor="ctr"/>
          <a:lstStyle/>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Automation &amp;</a:t>
            </a:r>
            <a:endParaRPr lang="en-US" sz="1200" dirty="0"/>
          </a:p>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Diagnostics</a:t>
            </a:r>
            <a:endParaRPr lang="en-US" sz="1200" dirty="0"/>
          </a:p>
        </p:txBody>
      </p:sp>
      <p:sp>
        <p:nvSpPr>
          <p:cNvPr id="18" name="Shape 16"/>
          <p:cNvSpPr/>
          <p:nvPr/>
        </p:nvSpPr>
        <p:spPr>
          <a:xfrm>
            <a:off x="548640" y="4892040"/>
            <a:ext cx="11064240" cy="1417320"/>
          </a:xfrm>
          <a:prstGeom prst="roundRect">
            <a:avLst>
              <a:gd name="adj" fmla="val 5161"/>
            </a:avLst>
          </a:prstGeom>
          <a:solidFill>
            <a:srgbClr val="F7FAFD"/>
          </a:solidFill>
          <a:ln w="12700">
            <a:solidFill>
              <a:srgbClr val="DCE9F7"/>
            </a:solidFill>
            <a:prstDash val="solid"/>
          </a:ln>
        </p:spPr>
      </p:sp>
      <p:sp>
        <p:nvSpPr>
          <p:cNvPr id="19" name="Text 17"/>
          <p:cNvSpPr/>
          <p:nvPr/>
        </p:nvSpPr>
        <p:spPr>
          <a:xfrm>
            <a:off x="822960" y="5056632"/>
            <a:ext cx="3657600" cy="274320"/>
          </a:xfrm>
          <a:prstGeom prst="rect">
            <a:avLst/>
          </a:prstGeom>
          <a:noFill/>
          <a:ln/>
        </p:spPr>
        <p:txBody>
          <a:bodyPr wrap="square" lIns="0" tIns="0" rIns="0" bIns="0" rtlCol="0" anchor="ctr"/>
          <a:lstStyle/>
          <a:p>
            <a:pPr indent="0" marL="0">
              <a:buNone/>
            </a:pPr>
            <a:r>
              <a:rPr lang="en-US" sz="1100" b="1" spc="150" kern="0" dirty="0">
                <a:solidFill>
                  <a:srgbClr val="1791A6"/>
                </a:solidFill>
                <a:latin typeface="Calibri" pitchFamily="34" charset="0"/>
                <a:ea typeface="Calibri" pitchFamily="34" charset="-122"/>
                <a:cs typeface="Calibri" pitchFamily="34" charset="-120"/>
              </a:rPr>
              <a:t>MY CONTRIBUTION</a:t>
            </a:r>
            <a:endParaRPr lang="en-US" sz="1100" dirty="0"/>
          </a:p>
        </p:txBody>
      </p:sp>
      <p:sp>
        <p:nvSpPr>
          <p:cNvPr id="20" name="Text 18"/>
          <p:cNvSpPr/>
          <p:nvPr/>
        </p:nvSpPr>
        <p:spPr>
          <a:xfrm>
            <a:off x="822960" y="5330952"/>
            <a:ext cx="10515600" cy="914400"/>
          </a:xfrm>
          <a:prstGeom prst="rect">
            <a:avLst/>
          </a:prstGeom>
          <a:noFill/>
          <a:ln/>
        </p:spPr>
        <p:txBody>
          <a:bodyPr wrap="square" lIns="0" tIns="0" rIns="0" bIns="0" rtlCol="0" anchor="ctr"/>
          <a:lstStyle/>
          <a:p>
            <a:pPr indent="0" marL="0">
              <a:lnSpc>
                <a:spcPct val="125000"/>
              </a:lnSpc>
              <a:buNone/>
            </a:pPr>
            <a:r>
              <a:rPr lang="en-US" sz="1250" dirty="0">
                <a:solidFill>
                  <a:srgbClr val="50606E"/>
                </a:solidFill>
                <a:latin typeface="Calibri" pitchFamily="34" charset="0"/>
                <a:ea typeface="Calibri" pitchFamily="34" charset="-122"/>
                <a:cs typeface="Calibri" pitchFamily="34" charset="-120"/>
              </a:rPr>
              <a:t>I was involved in the development and integration of components across these modules under the engineering team's guidance — gaining hands-on experience in Laravel backend development, REST API design, authentication, and real-time communication, rather than owning any single module end-to-end.</a:t>
            </a:r>
            <a:endParaRPr lang="en-US" sz="1250" dirty="0"/>
          </a:p>
        </p:txBody>
      </p:sp>
      <p:sp>
        <p:nvSpPr>
          <p:cNvPr id="21" name="Text 19"/>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22" name="Text 20"/>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Technology Stack</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Frameworks, tools, and infrastructure used in LeadOne 2.0</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36192"/>
          <a:ext cx="6858000" cy="4892040"/>
        </p:xfrm>
        <a:graphic>
          <a:graphicData uri="http://schemas.openxmlformats.org/drawingml/2006/table">
            <a:tbl>
              <a:tblPr/>
              <a:tblGrid>
                <a:gridCol w="3108960"/>
                <a:gridCol w="3749040"/>
              </a:tblGrid>
              <a:tr h="40767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1B3A6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Technology</a:t>
                      </a:r>
                      <a:endParaRPr lang="en-US" sz="12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1B3A6B"/>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Backend Framework</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Laravel 13 (PHP 8.3+)</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Frontend Interactivity</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Alpine.js</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Styling</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Tailwind CSS 4.0</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Build Tool / Bundler</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Vite 8, Node.js / npm</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Real-Time Communication</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Laravel Reverb (WebSockets)</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API Authentication</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Laravel Sanctum</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Social / OAuth Login</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Laravel Socialite</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Data Visualization</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Chart.js</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MySQL 8.0+ / PostgreSQL / SQLite</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Dependency Management</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Composer, npm</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FFFFF"/>
                    </a:solidFill>
                  </a:tcPr>
                </a:tc>
              </a:tr>
              <a:tr h="407670">
                <a:tc>
                  <a:txBody>
                    <a:bodyPr/>
                    <a:lstStyle/>
                    <a:p>
                      <a:pPr indent="0" marL="0">
                        <a:buNone/>
                      </a:pPr>
                      <a:r>
                        <a:rPr lang="en-US" sz="1150" b="1" dirty="0">
                          <a:solidFill>
                            <a:srgbClr val="12294D"/>
                          </a:solidFill>
                          <a:latin typeface="Calibri" pitchFamily="34" charset="0"/>
                          <a:ea typeface="Calibri" pitchFamily="34" charset="-122"/>
                          <a:cs typeface="Calibri" pitchFamily="34" charset="-120"/>
                        </a:rPr>
                        <a:t>CLI / Task Automation</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c>
                  <a:txBody>
                    <a:bodyPr/>
                    <a:lstStyle/>
                    <a:p>
                      <a:pPr indent="0" marL="0">
                        <a:buNone/>
                      </a:pPr>
                      <a:r>
                        <a:rPr lang="en-US" sz="1150" dirty="0">
                          <a:solidFill>
                            <a:srgbClr val="50606E"/>
                          </a:solidFill>
                          <a:latin typeface="Calibri" pitchFamily="34" charset="0"/>
                          <a:ea typeface="Calibri" pitchFamily="34" charset="-122"/>
                          <a:cs typeface="Calibri" pitchFamily="34" charset="-120"/>
                        </a:rPr>
                        <a:t>Laravel Artisan</a:t>
                      </a:r>
                      <a:endParaRPr lang="en-US" sz="1150" dirty="0">
                        <a:latin typeface="Calibri" charset="0"/>
                        <a:ea typeface="Calibri" charset="0"/>
                        <a:cs typeface="Calibri" charset="0"/>
                      </a:endParaRPr>
                    </a:p>
                  </a:txBody>
                  <a:tcPr marL="101600" marR="101600" marT="38100" marB="38100" anchor="ctr">
                    <a:lnL w="9525" cap="flat" cmpd="sng" algn="ctr">
                      <a:solidFill>
                        <a:srgbClr val="DCE9F7"/>
                      </a:solidFill>
                      <a:prstDash val="solid"/>
                      <a:round/>
                      <a:headEnd type="none" w="med" len="med"/>
                      <a:tailEnd type="none" w="med" len="med"/>
                    </a:lnL>
                    <a:lnR w="9525" cap="flat" cmpd="sng" algn="ctr">
                      <a:solidFill>
                        <a:srgbClr val="DCE9F7"/>
                      </a:solidFill>
                      <a:prstDash val="solid"/>
                      <a:round/>
                      <a:headEnd type="none" w="med" len="med"/>
                      <a:tailEnd type="none" w="med" len="med"/>
                    </a:lnR>
                    <a:lnT w="9525" cap="flat" cmpd="sng" algn="ctr">
                      <a:solidFill>
                        <a:srgbClr val="DCE9F7"/>
                      </a:solidFill>
                      <a:prstDash val="solid"/>
                      <a:round/>
                      <a:headEnd type="none" w="med" len="med"/>
                      <a:tailEnd type="none" w="med" len="med"/>
                    </a:lnT>
                    <a:lnB w="9525" cap="flat" cmpd="sng" algn="ctr">
                      <a:solidFill>
                        <a:srgbClr val="DCE9F7"/>
                      </a:solidFill>
                      <a:prstDash val="solid"/>
                      <a:round/>
                      <a:headEnd type="none" w="med" len="med"/>
                      <a:tailEnd type="none" w="med" len="med"/>
                    </a:lnB>
                    <a:solidFill>
                      <a:srgbClr val="F7FAFD"/>
                    </a:solidFill>
                  </a:tcPr>
                </a:tc>
              </a:tr>
            </a:tbl>
          </a:graphicData>
        </a:graphic>
      </p:graphicFrame>
      <p:sp>
        <p:nvSpPr>
          <p:cNvPr id="5" name="Shape 2"/>
          <p:cNvSpPr/>
          <p:nvPr/>
        </p:nvSpPr>
        <p:spPr>
          <a:xfrm>
            <a:off x="7680960" y="1536192"/>
            <a:ext cx="3977640" cy="4892040"/>
          </a:xfrm>
          <a:prstGeom prst="roundRect">
            <a:avLst>
              <a:gd name="adj" fmla="val 2299"/>
            </a:avLst>
          </a:prstGeom>
          <a:solidFill>
            <a:srgbClr val="EAF1FA"/>
          </a:solidFill>
          <a:ln/>
        </p:spPr>
      </p:sp>
      <p:sp>
        <p:nvSpPr>
          <p:cNvPr id="6" name="Text 3"/>
          <p:cNvSpPr/>
          <p:nvPr/>
        </p:nvSpPr>
        <p:spPr>
          <a:xfrm>
            <a:off x="7955280" y="1783080"/>
            <a:ext cx="3474720" cy="320040"/>
          </a:xfrm>
          <a:prstGeom prst="rect">
            <a:avLst/>
          </a:prstGeom>
          <a:noFill/>
          <a:ln/>
        </p:spPr>
        <p:txBody>
          <a:bodyPr wrap="square" lIns="0" tIns="0" rIns="0" bIns="0" rtlCol="0" anchor="ctr"/>
          <a:lstStyle/>
          <a:p>
            <a:pPr indent="0" marL="0">
              <a:buNone/>
            </a:pPr>
            <a:r>
              <a:rPr lang="en-US" sz="1100" b="1" spc="150" kern="0" dirty="0">
                <a:solidFill>
                  <a:srgbClr val="1791A6"/>
                </a:solidFill>
                <a:latin typeface="Calibri" pitchFamily="34" charset="0"/>
                <a:ea typeface="Calibri" pitchFamily="34" charset="-122"/>
                <a:cs typeface="Calibri" pitchFamily="34" charset="-120"/>
              </a:rPr>
              <a:t>WHY THIS STACK</a:t>
            </a:r>
            <a:endParaRPr lang="en-US" sz="1100" dirty="0"/>
          </a:p>
        </p:txBody>
      </p:sp>
      <p:sp>
        <p:nvSpPr>
          <p:cNvPr id="7" name="Shape 4"/>
          <p:cNvSpPr/>
          <p:nvPr/>
        </p:nvSpPr>
        <p:spPr>
          <a:xfrm>
            <a:off x="7955280" y="2249424"/>
            <a:ext cx="82296" cy="82296"/>
          </a:xfrm>
          <a:prstGeom prst="ellipse">
            <a:avLst/>
          </a:prstGeom>
          <a:solidFill>
            <a:srgbClr val="1791A6"/>
          </a:solidFill>
          <a:ln/>
        </p:spPr>
      </p:sp>
      <p:sp>
        <p:nvSpPr>
          <p:cNvPr id="8" name="Text 5"/>
          <p:cNvSpPr/>
          <p:nvPr/>
        </p:nvSpPr>
        <p:spPr>
          <a:xfrm>
            <a:off x="8156448" y="2103120"/>
            <a:ext cx="3291840" cy="777240"/>
          </a:xfrm>
          <a:prstGeom prst="rect">
            <a:avLst/>
          </a:prstGeom>
          <a:noFill/>
          <a:ln/>
        </p:spPr>
        <p:txBody>
          <a:bodyPr wrap="square" lIns="0" tIns="0" rIns="0" bIns="0" rtlCol="0" anchor="ctr"/>
          <a:lstStyle/>
          <a:p>
            <a:pPr indent="0" marL="0">
              <a:lnSpc>
                <a:spcPct val="120000"/>
              </a:lnSpc>
              <a:buNone/>
            </a:pPr>
            <a:r>
              <a:rPr lang="en-US" sz="1150" dirty="0">
                <a:solidFill>
                  <a:srgbClr val="12294D"/>
                </a:solidFill>
                <a:latin typeface="Calibri" pitchFamily="34" charset="0"/>
                <a:ea typeface="Calibri" pitchFamily="34" charset="-122"/>
                <a:cs typeface="Calibri" pitchFamily="34" charset="-120"/>
              </a:rPr>
              <a:t>Laravel's MVC structure and Eloquent ORM enable clean, modular development at enterprise scale.</a:t>
            </a:r>
            <a:endParaRPr lang="en-US" sz="1150" dirty="0"/>
          </a:p>
        </p:txBody>
      </p:sp>
      <p:sp>
        <p:nvSpPr>
          <p:cNvPr id="9" name="Shape 6"/>
          <p:cNvSpPr/>
          <p:nvPr/>
        </p:nvSpPr>
        <p:spPr>
          <a:xfrm>
            <a:off x="7955280" y="3090672"/>
            <a:ext cx="82296" cy="82296"/>
          </a:xfrm>
          <a:prstGeom prst="ellipse">
            <a:avLst/>
          </a:prstGeom>
          <a:solidFill>
            <a:srgbClr val="1791A6"/>
          </a:solidFill>
          <a:ln/>
        </p:spPr>
      </p:sp>
      <p:sp>
        <p:nvSpPr>
          <p:cNvPr id="10" name="Text 7"/>
          <p:cNvSpPr/>
          <p:nvPr/>
        </p:nvSpPr>
        <p:spPr>
          <a:xfrm>
            <a:off x="8156448" y="2944368"/>
            <a:ext cx="3291840" cy="777240"/>
          </a:xfrm>
          <a:prstGeom prst="rect">
            <a:avLst/>
          </a:prstGeom>
          <a:noFill/>
          <a:ln/>
        </p:spPr>
        <p:txBody>
          <a:bodyPr wrap="square" lIns="0" tIns="0" rIns="0" bIns="0" rtlCol="0" anchor="ctr"/>
          <a:lstStyle/>
          <a:p>
            <a:pPr indent="0" marL="0">
              <a:lnSpc>
                <a:spcPct val="120000"/>
              </a:lnSpc>
              <a:buNone/>
            </a:pPr>
            <a:r>
              <a:rPr lang="en-US" sz="1150" dirty="0">
                <a:solidFill>
                  <a:srgbClr val="12294D"/>
                </a:solidFill>
                <a:latin typeface="Calibri" pitchFamily="34" charset="0"/>
                <a:ea typeface="Calibri" pitchFamily="34" charset="-122"/>
                <a:cs typeface="Calibri" pitchFamily="34" charset="-120"/>
              </a:rPr>
              <a:t>Sanctum secures the mobile API used by the Android Call Logger.</a:t>
            </a:r>
            <a:endParaRPr lang="en-US" sz="1150" dirty="0"/>
          </a:p>
        </p:txBody>
      </p:sp>
      <p:sp>
        <p:nvSpPr>
          <p:cNvPr id="11" name="Shape 8"/>
          <p:cNvSpPr/>
          <p:nvPr/>
        </p:nvSpPr>
        <p:spPr>
          <a:xfrm>
            <a:off x="7955280" y="3931920"/>
            <a:ext cx="82296" cy="82296"/>
          </a:xfrm>
          <a:prstGeom prst="ellipse">
            <a:avLst/>
          </a:prstGeom>
          <a:solidFill>
            <a:srgbClr val="1791A6"/>
          </a:solidFill>
          <a:ln/>
        </p:spPr>
      </p:sp>
      <p:sp>
        <p:nvSpPr>
          <p:cNvPr id="12" name="Text 9"/>
          <p:cNvSpPr/>
          <p:nvPr/>
        </p:nvSpPr>
        <p:spPr>
          <a:xfrm>
            <a:off x="8156448" y="3785616"/>
            <a:ext cx="3291840" cy="777240"/>
          </a:xfrm>
          <a:prstGeom prst="rect">
            <a:avLst/>
          </a:prstGeom>
          <a:noFill/>
          <a:ln/>
        </p:spPr>
        <p:txBody>
          <a:bodyPr wrap="square" lIns="0" tIns="0" rIns="0" bIns="0" rtlCol="0" anchor="ctr"/>
          <a:lstStyle/>
          <a:p>
            <a:pPr indent="0" marL="0">
              <a:lnSpc>
                <a:spcPct val="120000"/>
              </a:lnSpc>
              <a:buNone/>
            </a:pPr>
            <a:r>
              <a:rPr lang="en-US" sz="1150" dirty="0">
                <a:solidFill>
                  <a:srgbClr val="12294D"/>
                </a:solidFill>
                <a:latin typeface="Calibri" pitchFamily="34" charset="0"/>
                <a:ea typeface="Calibri" pitchFamily="34" charset="-122"/>
                <a:cs typeface="Calibri" pitchFamily="34" charset="-120"/>
              </a:rPr>
              <a:t>Reverb enables live call-queue and agent-status updates without polling.</a:t>
            </a:r>
            <a:endParaRPr lang="en-US" sz="1150" dirty="0"/>
          </a:p>
        </p:txBody>
      </p:sp>
      <p:sp>
        <p:nvSpPr>
          <p:cNvPr id="13" name="Shape 10"/>
          <p:cNvSpPr/>
          <p:nvPr/>
        </p:nvSpPr>
        <p:spPr>
          <a:xfrm>
            <a:off x="7955280" y="4773168"/>
            <a:ext cx="82296" cy="82296"/>
          </a:xfrm>
          <a:prstGeom prst="ellipse">
            <a:avLst/>
          </a:prstGeom>
          <a:solidFill>
            <a:srgbClr val="1791A6"/>
          </a:solidFill>
          <a:ln/>
        </p:spPr>
      </p:sp>
      <p:sp>
        <p:nvSpPr>
          <p:cNvPr id="14" name="Text 11"/>
          <p:cNvSpPr/>
          <p:nvPr/>
        </p:nvSpPr>
        <p:spPr>
          <a:xfrm>
            <a:off x="8156448" y="4626864"/>
            <a:ext cx="3291840" cy="777240"/>
          </a:xfrm>
          <a:prstGeom prst="rect">
            <a:avLst/>
          </a:prstGeom>
          <a:noFill/>
          <a:ln/>
        </p:spPr>
        <p:txBody>
          <a:bodyPr wrap="square" lIns="0" tIns="0" rIns="0" bIns="0" rtlCol="0" anchor="ctr"/>
          <a:lstStyle/>
          <a:p>
            <a:pPr indent="0" marL="0">
              <a:lnSpc>
                <a:spcPct val="120000"/>
              </a:lnSpc>
              <a:buNone/>
            </a:pPr>
            <a:r>
              <a:rPr lang="en-US" sz="1150" dirty="0">
                <a:solidFill>
                  <a:srgbClr val="12294D"/>
                </a:solidFill>
                <a:latin typeface="Calibri" pitchFamily="34" charset="0"/>
                <a:ea typeface="Calibri" pitchFamily="34" charset="-122"/>
                <a:cs typeface="Calibri" pitchFamily="34" charset="-120"/>
              </a:rPr>
              <a:t>Alpine.js + Tailwind keep the server-rendered UI lightweight and reactive.</a:t>
            </a:r>
            <a:endParaRPr lang="en-US" sz="1150" dirty="0"/>
          </a:p>
        </p:txBody>
      </p:sp>
      <p:sp>
        <p:nvSpPr>
          <p:cNvPr id="15" name="Text 12"/>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16" name="Text 13"/>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System Architecture</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Conceptual, layered view of the LeadOne 2.0 platform</a:t>
            </a:r>
            <a:endParaRPr lang="en-US" sz="1350" dirty="0"/>
          </a:p>
        </p:txBody>
      </p:sp>
      <p:sp>
        <p:nvSpPr>
          <p:cNvPr id="4" name="Shape 2"/>
          <p:cNvSpPr/>
          <p:nvPr/>
        </p:nvSpPr>
        <p:spPr>
          <a:xfrm>
            <a:off x="822960" y="1600200"/>
            <a:ext cx="3291840" cy="868680"/>
          </a:xfrm>
          <a:prstGeom prst="roundRect">
            <a:avLst>
              <a:gd name="adj" fmla="val 8421"/>
            </a:avLst>
          </a:prstGeom>
          <a:solidFill>
            <a:srgbClr val="EAF1FA"/>
          </a:solidFill>
          <a:ln w="12700">
            <a:solidFill>
              <a:srgbClr val="1791A6"/>
            </a:solidFill>
            <a:prstDash val="solid"/>
          </a:ln>
        </p:spPr>
      </p:sp>
      <p:sp>
        <p:nvSpPr>
          <p:cNvPr id="5" name="Text 3"/>
          <p:cNvSpPr/>
          <p:nvPr/>
        </p:nvSpPr>
        <p:spPr>
          <a:xfrm>
            <a:off x="914400" y="1645920"/>
            <a:ext cx="3108960" cy="777240"/>
          </a:xfrm>
          <a:prstGeom prst="rect">
            <a:avLst/>
          </a:prstGeom>
          <a:noFill/>
          <a:ln/>
        </p:spPr>
        <p:txBody>
          <a:bodyPr wrap="square" lIns="0" tIns="0" rIns="0" bIns="0" rtlCol="0" anchor="ctr"/>
          <a:lstStyle/>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Web Dashboard</a:t>
            </a:r>
            <a:endParaRPr lang="en-US" sz="1200" dirty="0"/>
          </a:p>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(Alpine.js + Tailwind)</a:t>
            </a:r>
            <a:endParaRPr lang="en-US" sz="1200" dirty="0"/>
          </a:p>
        </p:txBody>
      </p:sp>
      <p:sp>
        <p:nvSpPr>
          <p:cNvPr id="6" name="Shape 4"/>
          <p:cNvSpPr/>
          <p:nvPr/>
        </p:nvSpPr>
        <p:spPr>
          <a:xfrm>
            <a:off x="2468880" y="2468880"/>
            <a:ext cx="0" cy="347472"/>
          </a:xfrm>
          <a:prstGeom prst="line">
            <a:avLst/>
          </a:prstGeom>
          <a:noFill/>
          <a:ln w="22225">
            <a:solidFill>
              <a:srgbClr val="1791A6"/>
            </a:solidFill>
            <a:prstDash val="solid"/>
            <a:tailEnd type="triangle"/>
          </a:ln>
        </p:spPr>
      </p:sp>
      <p:sp>
        <p:nvSpPr>
          <p:cNvPr id="7" name="Shape 5"/>
          <p:cNvSpPr/>
          <p:nvPr/>
        </p:nvSpPr>
        <p:spPr>
          <a:xfrm>
            <a:off x="4434840" y="1600200"/>
            <a:ext cx="3291840" cy="868680"/>
          </a:xfrm>
          <a:prstGeom prst="roundRect">
            <a:avLst>
              <a:gd name="adj" fmla="val 8421"/>
            </a:avLst>
          </a:prstGeom>
          <a:solidFill>
            <a:srgbClr val="EAF1FA"/>
          </a:solidFill>
          <a:ln w="12700">
            <a:solidFill>
              <a:srgbClr val="1791A6"/>
            </a:solidFill>
            <a:prstDash val="solid"/>
          </a:ln>
        </p:spPr>
      </p:sp>
      <p:sp>
        <p:nvSpPr>
          <p:cNvPr id="8" name="Text 6"/>
          <p:cNvSpPr/>
          <p:nvPr/>
        </p:nvSpPr>
        <p:spPr>
          <a:xfrm>
            <a:off x="4526280" y="1645920"/>
            <a:ext cx="3108960" cy="777240"/>
          </a:xfrm>
          <a:prstGeom prst="rect">
            <a:avLst/>
          </a:prstGeom>
          <a:noFill/>
          <a:ln/>
        </p:spPr>
        <p:txBody>
          <a:bodyPr wrap="square" lIns="0" tIns="0" rIns="0" bIns="0" rtlCol="0" anchor="ctr"/>
          <a:lstStyle/>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Android</a:t>
            </a:r>
            <a:endParaRPr lang="en-US" sz="1200" dirty="0"/>
          </a:p>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Call Logger App</a:t>
            </a:r>
            <a:endParaRPr lang="en-US" sz="1200" dirty="0"/>
          </a:p>
        </p:txBody>
      </p:sp>
      <p:sp>
        <p:nvSpPr>
          <p:cNvPr id="9" name="Shape 7"/>
          <p:cNvSpPr/>
          <p:nvPr/>
        </p:nvSpPr>
        <p:spPr>
          <a:xfrm>
            <a:off x="6080760" y="2468880"/>
            <a:ext cx="0" cy="347472"/>
          </a:xfrm>
          <a:prstGeom prst="line">
            <a:avLst/>
          </a:prstGeom>
          <a:noFill/>
          <a:ln w="22225">
            <a:solidFill>
              <a:srgbClr val="1791A6"/>
            </a:solidFill>
            <a:prstDash val="solid"/>
            <a:tailEnd type="triangle"/>
          </a:ln>
        </p:spPr>
      </p:sp>
      <p:sp>
        <p:nvSpPr>
          <p:cNvPr id="10" name="Shape 8"/>
          <p:cNvSpPr/>
          <p:nvPr/>
        </p:nvSpPr>
        <p:spPr>
          <a:xfrm>
            <a:off x="8046720" y="1600200"/>
            <a:ext cx="3291840" cy="868680"/>
          </a:xfrm>
          <a:prstGeom prst="roundRect">
            <a:avLst>
              <a:gd name="adj" fmla="val 8421"/>
            </a:avLst>
          </a:prstGeom>
          <a:solidFill>
            <a:srgbClr val="EAF1FA"/>
          </a:solidFill>
          <a:ln w="12700">
            <a:solidFill>
              <a:srgbClr val="1791A6"/>
            </a:solidFill>
            <a:prstDash val="solid"/>
          </a:ln>
        </p:spPr>
      </p:sp>
      <p:sp>
        <p:nvSpPr>
          <p:cNvPr id="11" name="Text 9"/>
          <p:cNvSpPr/>
          <p:nvPr/>
        </p:nvSpPr>
        <p:spPr>
          <a:xfrm>
            <a:off x="8138160" y="1645920"/>
            <a:ext cx="3108960" cy="777240"/>
          </a:xfrm>
          <a:prstGeom prst="rect">
            <a:avLst/>
          </a:prstGeom>
          <a:noFill/>
          <a:ln/>
        </p:spPr>
        <p:txBody>
          <a:bodyPr wrap="square" lIns="0" tIns="0" rIns="0" bIns="0" rtlCol="0" anchor="ctr"/>
          <a:lstStyle/>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Public Lead-</a:t>
            </a:r>
            <a:endParaRPr lang="en-US" sz="1200" dirty="0"/>
          </a:p>
          <a:p>
            <a:pPr algn="ctr" indent="0" marL="0">
              <a:lnSpc>
                <a:spcPct val="105000"/>
              </a:lnSpc>
              <a:buNone/>
            </a:pPr>
            <a:r>
              <a:rPr lang="en-US" sz="1200" b="1" dirty="0">
                <a:solidFill>
                  <a:srgbClr val="12294D"/>
                </a:solidFill>
                <a:latin typeface="Calibri" pitchFamily="34" charset="0"/>
                <a:ea typeface="Calibri" pitchFamily="34" charset="-122"/>
                <a:cs typeface="Calibri" pitchFamily="34" charset="-120"/>
              </a:rPr>
              <a:t>Capture Forms</a:t>
            </a:r>
            <a:endParaRPr lang="en-US" sz="1200" dirty="0"/>
          </a:p>
        </p:txBody>
      </p:sp>
      <p:sp>
        <p:nvSpPr>
          <p:cNvPr id="12" name="Shape 10"/>
          <p:cNvSpPr/>
          <p:nvPr/>
        </p:nvSpPr>
        <p:spPr>
          <a:xfrm>
            <a:off x="9692640" y="2468880"/>
            <a:ext cx="0" cy="347472"/>
          </a:xfrm>
          <a:prstGeom prst="line">
            <a:avLst/>
          </a:prstGeom>
          <a:noFill/>
          <a:ln w="22225">
            <a:solidFill>
              <a:srgbClr val="1791A6"/>
            </a:solidFill>
            <a:prstDash val="solid"/>
            <a:tailEnd type="triangle"/>
          </a:ln>
        </p:spPr>
      </p:sp>
      <p:sp>
        <p:nvSpPr>
          <p:cNvPr id="13" name="Shape 11"/>
          <p:cNvSpPr/>
          <p:nvPr/>
        </p:nvSpPr>
        <p:spPr>
          <a:xfrm>
            <a:off x="822960" y="2871216"/>
            <a:ext cx="10543032" cy="1417320"/>
          </a:xfrm>
          <a:prstGeom prst="roundRect">
            <a:avLst>
              <a:gd name="adj" fmla="val 5161"/>
            </a:avLst>
          </a:prstGeom>
          <a:solidFill>
            <a:srgbClr val="1B3A6B"/>
          </a:solidFill>
          <a:ln/>
        </p:spPr>
      </p:sp>
      <p:sp>
        <p:nvSpPr>
          <p:cNvPr id="14" name="Text 12"/>
          <p:cNvSpPr/>
          <p:nvPr/>
        </p:nvSpPr>
        <p:spPr>
          <a:xfrm>
            <a:off x="1097280" y="2999232"/>
            <a:ext cx="100584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Laravel 13 Application Layer</a:t>
            </a:r>
            <a:endParaRPr lang="en-US" sz="1600" dirty="0"/>
          </a:p>
        </p:txBody>
      </p:sp>
      <p:sp>
        <p:nvSpPr>
          <p:cNvPr id="15" name="Shape 13"/>
          <p:cNvSpPr/>
          <p:nvPr/>
        </p:nvSpPr>
        <p:spPr>
          <a:xfrm>
            <a:off x="1097280" y="3438144"/>
            <a:ext cx="3200400" cy="685800"/>
          </a:xfrm>
          <a:prstGeom prst="roundRect">
            <a:avLst>
              <a:gd name="adj" fmla="val 8000"/>
            </a:avLst>
          </a:prstGeom>
          <a:solidFill>
            <a:srgbClr val="2A4E82"/>
          </a:solidFill>
          <a:ln/>
        </p:spPr>
      </p:sp>
      <p:sp>
        <p:nvSpPr>
          <p:cNvPr id="16" name="Text 14"/>
          <p:cNvSpPr/>
          <p:nvPr/>
        </p:nvSpPr>
        <p:spPr>
          <a:xfrm>
            <a:off x="1188720" y="3483864"/>
            <a:ext cx="3017520" cy="594360"/>
          </a:xfrm>
          <a:prstGeom prst="rect">
            <a:avLst/>
          </a:prstGeom>
          <a:noFill/>
          <a:ln/>
        </p:spPr>
        <p:txBody>
          <a:bodyPr wrap="square" lIns="0" tIns="0" rIns="0" bIns="0" rtlCol="0" anchor="ctr"/>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REST APIs</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(Laravel Sanctum)</a:t>
            </a:r>
            <a:endParaRPr lang="en-US" sz="1050" dirty="0"/>
          </a:p>
        </p:txBody>
      </p:sp>
      <p:sp>
        <p:nvSpPr>
          <p:cNvPr id="17" name="Shape 15"/>
          <p:cNvSpPr/>
          <p:nvPr/>
        </p:nvSpPr>
        <p:spPr>
          <a:xfrm>
            <a:off x="4539996" y="3438144"/>
            <a:ext cx="3200400" cy="685800"/>
          </a:xfrm>
          <a:prstGeom prst="roundRect">
            <a:avLst>
              <a:gd name="adj" fmla="val 8000"/>
            </a:avLst>
          </a:prstGeom>
          <a:solidFill>
            <a:srgbClr val="2A4E82"/>
          </a:solidFill>
          <a:ln/>
        </p:spPr>
      </p:sp>
      <p:sp>
        <p:nvSpPr>
          <p:cNvPr id="18" name="Text 16"/>
          <p:cNvSpPr/>
          <p:nvPr/>
        </p:nvSpPr>
        <p:spPr>
          <a:xfrm>
            <a:off x="4631436" y="3483864"/>
            <a:ext cx="3017520" cy="594360"/>
          </a:xfrm>
          <a:prstGeom prst="rect">
            <a:avLst/>
          </a:prstGeom>
          <a:noFill/>
          <a:ln/>
        </p:spPr>
        <p:txBody>
          <a:bodyPr wrap="square" lIns="0" tIns="0" rIns="0" bIns="0" rtlCol="0" anchor="ctr"/>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WebSocket Channels</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(Laravel Reverb)</a:t>
            </a:r>
            <a:endParaRPr lang="en-US" sz="1050" dirty="0"/>
          </a:p>
        </p:txBody>
      </p:sp>
      <p:sp>
        <p:nvSpPr>
          <p:cNvPr id="19" name="Shape 17"/>
          <p:cNvSpPr/>
          <p:nvPr/>
        </p:nvSpPr>
        <p:spPr>
          <a:xfrm>
            <a:off x="7982712" y="3438144"/>
            <a:ext cx="3200400" cy="685800"/>
          </a:xfrm>
          <a:prstGeom prst="roundRect">
            <a:avLst>
              <a:gd name="adj" fmla="val 8000"/>
            </a:avLst>
          </a:prstGeom>
          <a:solidFill>
            <a:srgbClr val="2A4E82"/>
          </a:solidFill>
          <a:ln/>
        </p:spPr>
      </p:sp>
      <p:sp>
        <p:nvSpPr>
          <p:cNvPr id="20" name="Text 18"/>
          <p:cNvSpPr/>
          <p:nvPr/>
        </p:nvSpPr>
        <p:spPr>
          <a:xfrm>
            <a:off x="8074152" y="3483864"/>
            <a:ext cx="3017520" cy="594360"/>
          </a:xfrm>
          <a:prstGeom prst="rect">
            <a:avLst/>
          </a:prstGeom>
          <a:noFill/>
          <a:ln/>
        </p:spPr>
        <p:txBody>
          <a:bodyPr wrap="square" lIns="0" tIns="0" rIns="0" bIns="0" rtlCol="0" anchor="ctr"/>
          <a:lstStyle/>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Cloud Telephony</a:t>
            </a:r>
            <a:endParaRPr lang="en-US" sz="1050" dirty="0"/>
          </a:p>
          <a:p>
            <a:pPr algn="ctr" indent="0" marL="0">
              <a:lnSpc>
                <a:spcPct val="105000"/>
              </a:lnSpc>
              <a:buNone/>
            </a:pPr>
            <a:r>
              <a:rPr lang="en-US" sz="1050" dirty="0">
                <a:solidFill>
                  <a:srgbClr val="FFFFFF"/>
                </a:solidFill>
                <a:latin typeface="Calibri" pitchFamily="34" charset="0"/>
                <a:ea typeface="Calibri" pitchFamily="34" charset="-122"/>
                <a:cs typeface="Calibri" pitchFamily="34" charset="-120"/>
              </a:rPr>
              <a:t>Webhooks (CDRs)</a:t>
            </a:r>
            <a:endParaRPr lang="en-US" sz="1050" dirty="0"/>
          </a:p>
        </p:txBody>
      </p:sp>
      <p:sp>
        <p:nvSpPr>
          <p:cNvPr id="21" name="Shape 19"/>
          <p:cNvSpPr/>
          <p:nvPr/>
        </p:nvSpPr>
        <p:spPr>
          <a:xfrm>
            <a:off x="6095848" y="4288536"/>
            <a:ext cx="0" cy="320040"/>
          </a:xfrm>
          <a:prstGeom prst="line">
            <a:avLst/>
          </a:prstGeom>
          <a:noFill/>
          <a:ln w="22225">
            <a:solidFill>
              <a:srgbClr val="1791A6"/>
            </a:solidFill>
            <a:prstDash val="solid"/>
            <a:tailEnd type="triangle"/>
          </a:ln>
        </p:spPr>
      </p:sp>
      <p:sp>
        <p:nvSpPr>
          <p:cNvPr id="22" name="Shape 20"/>
          <p:cNvSpPr/>
          <p:nvPr/>
        </p:nvSpPr>
        <p:spPr>
          <a:xfrm>
            <a:off x="3566160" y="4654296"/>
            <a:ext cx="5056632" cy="777240"/>
          </a:xfrm>
          <a:prstGeom prst="roundRect">
            <a:avLst>
              <a:gd name="adj" fmla="val 9412"/>
            </a:avLst>
          </a:prstGeom>
          <a:solidFill>
            <a:srgbClr val="EAF1FA"/>
          </a:solidFill>
          <a:ln w="12700">
            <a:solidFill>
              <a:srgbClr val="1791A6"/>
            </a:solidFill>
            <a:prstDash val="solid"/>
          </a:ln>
        </p:spPr>
      </p:sp>
      <p:sp>
        <p:nvSpPr>
          <p:cNvPr id="23" name="Text 21"/>
          <p:cNvSpPr/>
          <p:nvPr/>
        </p:nvSpPr>
        <p:spPr>
          <a:xfrm>
            <a:off x="3749040" y="4654296"/>
            <a:ext cx="4690872" cy="777240"/>
          </a:xfrm>
          <a:prstGeom prst="rect">
            <a:avLst/>
          </a:prstGeom>
          <a:noFill/>
          <a:ln/>
        </p:spPr>
        <p:txBody>
          <a:bodyPr wrap="square" lIns="0" tIns="0" rIns="0" bIns="0" rtlCol="0" anchor="ctr"/>
          <a:lstStyle/>
          <a:p>
            <a:pPr algn="ctr" indent="0" marL="0">
              <a:buNone/>
            </a:pPr>
            <a:r>
              <a:rPr lang="en-US" sz="1250" b="1" dirty="0">
                <a:solidFill>
                  <a:srgbClr val="12294D"/>
                </a:solidFill>
                <a:latin typeface="Calibri" pitchFamily="34" charset="0"/>
                <a:ea typeface="Calibri" pitchFamily="34" charset="-122"/>
                <a:cs typeface="Calibri" pitchFamily="34" charset="-120"/>
              </a:rPr>
              <a:t>Database Layer  —  via Eloquent ORM (MySQL / PostgreSQL / SQLite)</a:t>
            </a:r>
            <a:endParaRPr lang="en-US" sz="1250" dirty="0"/>
          </a:p>
        </p:txBody>
      </p:sp>
      <p:sp>
        <p:nvSpPr>
          <p:cNvPr id="24" name="Text 22"/>
          <p:cNvSpPr/>
          <p:nvPr/>
        </p:nvSpPr>
        <p:spPr>
          <a:xfrm>
            <a:off x="822960" y="5614416"/>
            <a:ext cx="10543032" cy="502920"/>
          </a:xfrm>
          <a:prstGeom prst="rect">
            <a:avLst/>
          </a:prstGeom>
          <a:noFill/>
          <a:ln/>
        </p:spPr>
        <p:txBody>
          <a:bodyPr wrap="square" lIns="0" tIns="0" rIns="0" bIns="0" rtlCol="0" anchor="ctr"/>
          <a:lstStyle/>
          <a:p>
            <a:pPr indent="0" marL="0">
              <a:lnSpc>
                <a:spcPct val="120000"/>
              </a:lnSpc>
              <a:buNone/>
            </a:pPr>
            <a:r>
              <a:rPr lang="en-US" sz="1100" i="1" dirty="0">
                <a:solidFill>
                  <a:srgbClr val="50606E"/>
                </a:solidFill>
                <a:latin typeface="Calibri" pitchFamily="34" charset="0"/>
                <a:ea typeface="Calibri" pitchFamily="34" charset="-122"/>
                <a:cs typeface="Calibri" pitchFamily="34" charset="-120"/>
              </a:rPr>
              <a:t>Client-facing surfaces communicate with a common Laravel application layer, which routes requests through REST APIs, real-time WebSocket channels, and telephony webhooks — all persisting data through a shared database layer.</a:t>
            </a:r>
            <a:endParaRPr lang="en-US" sz="1100" dirty="0"/>
          </a:p>
        </p:txBody>
      </p:sp>
      <p:sp>
        <p:nvSpPr>
          <p:cNvPr id="25" name="Text 23"/>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26" name="Text 24"/>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Core Modules — I</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Lead management and integrated cloud telephony</a:t>
            </a:r>
            <a:endParaRPr lang="en-US" sz="1350" dirty="0"/>
          </a:p>
        </p:txBody>
      </p:sp>
      <p:sp>
        <p:nvSpPr>
          <p:cNvPr id="4" name="Shape 2"/>
          <p:cNvSpPr/>
          <p:nvPr/>
        </p:nvSpPr>
        <p:spPr>
          <a:xfrm>
            <a:off x="548640" y="1554480"/>
            <a:ext cx="5486400" cy="4434840"/>
          </a:xfrm>
          <a:prstGeom prst="roundRect">
            <a:avLst>
              <a:gd name="adj" fmla="val 2062"/>
            </a:avLst>
          </a:prstGeom>
          <a:solidFill>
            <a:srgbClr val="F7FAFD"/>
          </a:solidFill>
          <a:ln w="12700">
            <a:solidFill>
              <a:srgbClr val="DCE9F7"/>
            </a:solidFill>
            <a:prstDash val="solid"/>
          </a:ln>
        </p:spPr>
      </p:sp>
      <p:sp>
        <p:nvSpPr>
          <p:cNvPr id="5" name="Shape 3"/>
          <p:cNvSpPr/>
          <p:nvPr/>
        </p:nvSpPr>
        <p:spPr>
          <a:xfrm>
            <a:off x="868680" y="1783080"/>
            <a:ext cx="548640" cy="548640"/>
          </a:xfrm>
          <a:prstGeom prst="ellipse">
            <a:avLst/>
          </a:prstGeom>
          <a:solidFill>
            <a:srgbClr val="1B3A6B"/>
          </a:solidFill>
          <a:ln/>
        </p:spPr>
      </p:sp>
      <p:sp>
        <p:nvSpPr>
          <p:cNvPr id="6" name="Text 4"/>
          <p:cNvSpPr/>
          <p:nvPr/>
        </p:nvSpPr>
        <p:spPr>
          <a:xfrm>
            <a:off x="868680" y="1783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1</a:t>
            </a:r>
            <a:endParaRPr lang="en-US" sz="1560" dirty="0"/>
          </a:p>
        </p:txBody>
      </p:sp>
      <p:sp>
        <p:nvSpPr>
          <p:cNvPr id="7" name="Text 5"/>
          <p:cNvSpPr/>
          <p:nvPr/>
        </p:nvSpPr>
        <p:spPr>
          <a:xfrm>
            <a:off x="1600200" y="1783080"/>
            <a:ext cx="4206240" cy="548640"/>
          </a:xfrm>
          <a:prstGeom prst="rect">
            <a:avLst/>
          </a:prstGeom>
          <a:noFill/>
          <a:ln/>
        </p:spPr>
        <p:txBody>
          <a:bodyPr wrap="square" lIns="0" tIns="0" rIns="0" bIns="0" rtlCol="0" anchor="ctr"/>
          <a:lstStyle/>
          <a:p>
            <a:pPr indent="0" marL="0">
              <a:buNone/>
            </a:pPr>
            <a:r>
              <a:rPr lang="en-US" sz="1550" b="1" dirty="0">
                <a:solidFill>
                  <a:srgbClr val="12294D"/>
                </a:solidFill>
                <a:latin typeface="Calibri" pitchFamily="34" charset="0"/>
                <a:ea typeface="Calibri" pitchFamily="34" charset="-122"/>
                <a:cs typeface="Calibri" pitchFamily="34" charset="-120"/>
              </a:rPr>
              <a:t>Lead Management Engine</a:t>
            </a:r>
            <a:endParaRPr lang="en-US" sz="1550" dirty="0"/>
          </a:p>
        </p:txBody>
      </p:sp>
      <p:sp>
        <p:nvSpPr>
          <p:cNvPr id="8" name="Text 6"/>
          <p:cNvSpPr/>
          <p:nvPr/>
        </p:nvSpPr>
        <p:spPr>
          <a:xfrm>
            <a:off x="914400" y="2514600"/>
            <a:ext cx="4754880" cy="3291840"/>
          </a:xfrm>
          <a:prstGeom prst="rect">
            <a:avLst/>
          </a:prstGeom>
          <a:noFill/>
          <a:ln/>
        </p:spPr>
        <p:txBody>
          <a:bodyPr wrap="square" lIns="0" tIns="0" rIns="0" bIns="0" rtlCol="0" anchor="ctr"/>
          <a:lstStyle/>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Manages the complete lead lifecycle from capture to conversion or closure. Supports categorization by industry and stage, configurable statuses, a chronological history timeline, and dynamic custom fields.</a:t>
            </a:r>
            <a:endParaRPr lang="en-US" sz="1200" dirty="0"/>
          </a:p>
          <a:p>
            <a:pPr indent="0" marL="0">
              <a:lnSpc>
                <a:spcPct val="130000"/>
              </a:lnSpc>
              <a:buNone/>
            </a:pPr>
            <a:endParaRPr lang="en-US" sz="1200" dirty="0"/>
          </a:p>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Leads can be allocated manually or via automatic round-robin distribution. A campaign form builder and public capture forms feed leads in directly, while duplicate prevention and activity logs preserve data quality.</a:t>
            </a:r>
            <a:endParaRPr lang="en-US" sz="1200" dirty="0"/>
          </a:p>
        </p:txBody>
      </p:sp>
      <p:sp>
        <p:nvSpPr>
          <p:cNvPr id="9" name="Shape 7"/>
          <p:cNvSpPr/>
          <p:nvPr/>
        </p:nvSpPr>
        <p:spPr>
          <a:xfrm>
            <a:off x="6263640" y="1554480"/>
            <a:ext cx="5486400" cy="4434840"/>
          </a:xfrm>
          <a:prstGeom prst="roundRect">
            <a:avLst>
              <a:gd name="adj" fmla="val 2062"/>
            </a:avLst>
          </a:prstGeom>
          <a:solidFill>
            <a:srgbClr val="F7FAFD"/>
          </a:solidFill>
          <a:ln w="12700">
            <a:solidFill>
              <a:srgbClr val="DCE9F7"/>
            </a:solidFill>
            <a:prstDash val="solid"/>
          </a:ln>
        </p:spPr>
      </p:sp>
      <p:sp>
        <p:nvSpPr>
          <p:cNvPr id="10" name="Shape 8"/>
          <p:cNvSpPr/>
          <p:nvPr/>
        </p:nvSpPr>
        <p:spPr>
          <a:xfrm>
            <a:off x="6583680" y="1783080"/>
            <a:ext cx="548640" cy="548640"/>
          </a:xfrm>
          <a:prstGeom prst="ellipse">
            <a:avLst/>
          </a:prstGeom>
          <a:solidFill>
            <a:srgbClr val="1B3A6B"/>
          </a:solidFill>
          <a:ln/>
        </p:spPr>
      </p:sp>
      <p:sp>
        <p:nvSpPr>
          <p:cNvPr id="11" name="Text 9"/>
          <p:cNvSpPr/>
          <p:nvPr/>
        </p:nvSpPr>
        <p:spPr>
          <a:xfrm>
            <a:off x="6583680" y="1783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2</a:t>
            </a:r>
            <a:endParaRPr lang="en-US" sz="1560" dirty="0"/>
          </a:p>
        </p:txBody>
      </p:sp>
      <p:sp>
        <p:nvSpPr>
          <p:cNvPr id="12" name="Text 10"/>
          <p:cNvSpPr/>
          <p:nvPr/>
        </p:nvSpPr>
        <p:spPr>
          <a:xfrm>
            <a:off x="7315200" y="1783080"/>
            <a:ext cx="4206240" cy="548640"/>
          </a:xfrm>
          <a:prstGeom prst="rect">
            <a:avLst/>
          </a:prstGeom>
          <a:noFill/>
          <a:ln/>
        </p:spPr>
        <p:txBody>
          <a:bodyPr wrap="square" lIns="0" tIns="0" rIns="0" bIns="0" rtlCol="0" anchor="ctr"/>
          <a:lstStyle/>
          <a:p>
            <a:pPr indent="0" marL="0">
              <a:buNone/>
            </a:pPr>
            <a:r>
              <a:rPr lang="en-US" sz="1550" b="1" dirty="0">
                <a:solidFill>
                  <a:srgbClr val="12294D"/>
                </a:solidFill>
                <a:latin typeface="Calibri" pitchFamily="34" charset="0"/>
                <a:ea typeface="Calibri" pitchFamily="34" charset="-122"/>
                <a:cs typeface="Calibri" pitchFamily="34" charset="-120"/>
              </a:rPr>
              <a:t>Cloud Telephony &amp; Call Center</a:t>
            </a:r>
            <a:endParaRPr lang="en-US" sz="1550" dirty="0"/>
          </a:p>
        </p:txBody>
      </p:sp>
      <p:sp>
        <p:nvSpPr>
          <p:cNvPr id="13" name="Text 11"/>
          <p:cNvSpPr/>
          <p:nvPr/>
        </p:nvSpPr>
        <p:spPr>
          <a:xfrm>
            <a:off x="6629400" y="2514600"/>
            <a:ext cx="4754880" cy="3291840"/>
          </a:xfrm>
          <a:prstGeom prst="rect">
            <a:avLst/>
          </a:prstGeom>
          <a:noFill/>
          <a:ln/>
        </p:spPr>
        <p:txBody>
          <a:bodyPr wrap="square" lIns="0" tIns="0" rIns="0" bIns="0" rtlCol="0" anchor="ctr"/>
          <a:lstStyle/>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Integrates inbound/outbound call queues, live monitoring, and agent status into the CRM. A click-to-call API lets agents initiate calls directly from the platform.</a:t>
            </a:r>
            <a:endParaRPr lang="en-US" sz="1200" dirty="0"/>
          </a:p>
          <a:p>
            <a:pPr indent="0" marL="0">
              <a:lnSpc>
                <a:spcPct val="130000"/>
              </a:lnSpc>
              <a:buNone/>
            </a:pPr>
            <a:endParaRPr lang="en-US" sz="1200" dirty="0"/>
          </a:p>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FreeSWITCH-based webhooks feed Call Detail Records (CDRs) back for processing. Calls are tagged with dispositions, and recordings are linked to the corresponding lead or ticket record.</a:t>
            </a:r>
            <a:endParaRPr lang="en-US" sz="1200" dirty="0"/>
          </a:p>
        </p:txBody>
      </p:sp>
      <p:sp>
        <p:nvSpPr>
          <p:cNvPr id="14" name="Text 12"/>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15" name="Text 13"/>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Core Modules — II</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Mobile access and field-force accountability</a:t>
            </a:r>
            <a:endParaRPr lang="en-US" sz="1350" dirty="0"/>
          </a:p>
        </p:txBody>
      </p:sp>
      <p:sp>
        <p:nvSpPr>
          <p:cNvPr id="4" name="Shape 2"/>
          <p:cNvSpPr/>
          <p:nvPr/>
        </p:nvSpPr>
        <p:spPr>
          <a:xfrm>
            <a:off x="548640" y="1554480"/>
            <a:ext cx="5486400" cy="4434840"/>
          </a:xfrm>
          <a:prstGeom prst="roundRect">
            <a:avLst>
              <a:gd name="adj" fmla="val 2062"/>
            </a:avLst>
          </a:prstGeom>
          <a:solidFill>
            <a:srgbClr val="F7FAFD"/>
          </a:solidFill>
          <a:ln w="12700">
            <a:solidFill>
              <a:srgbClr val="DCE9F7"/>
            </a:solidFill>
            <a:prstDash val="solid"/>
          </a:ln>
        </p:spPr>
      </p:sp>
      <p:sp>
        <p:nvSpPr>
          <p:cNvPr id="5" name="Shape 3"/>
          <p:cNvSpPr/>
          <p:nvPr/>
        </p:nvSpPr>
        <p:spPr>
          <a:xfrm>
            <a:off x="868680" y="1783080"/>
            <a:ext cx="548640" cy="548640"/>
          </a:xfrm>
          <a:prstGeom prst="ellipse">
            <a:avLst/>
          </a:prstGeom>
          <a:solidFill>
            <a:srgbClr val="1B3A6B"/>
          </a:solidFill>
          <a:ln/>
        </p:spPr>
      </p:sp>
      <p:sp>
        <p:nvSpPr>
          <p:cNvPr id="6" name="Text 4"/>
          <p:cNvSpPr/>
          <p:nvPr/>
        </p:nvSpPr>
        <p:spPr>
          <a:xfrm>
            <a:off x="868680" y="1783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3</a:t>
            </a:r>
            <a:endParaRPr lang="en-US" sz="1560" dirty="0"/>
          </a:p>
        </p:txBody>
      </p:sp>
      <p:sp>
        <p:nvSpPr>
          <p:cNvPr id="7" name="Text 5"/>
          <p:cNvSpPr/>
          <p:nvPr/>
        </p:nvSpPr>
        <p:spPr>
          <a:xfrm>
            <a:off x="1600200" y="1783080"/>
            <a:ext cx="4206240" cy="548640"/>
          </a:xfrm>
          <a:prstGeom prst="rect">
            <a:avLst/>
          </a:prstGeom>
          <a:noFill/>
          <a:ln/>
        </p:spPr>
        <p:txBody>
          <a:bodyPr wrap="square" lIns="0" tIns="0" rIns="0" bIns="0" rtlCol="0" anchor="ctr"/>
          <a:lstStyle/>
          <a:p>
            <a:pPr indent="0" marL="0">
              <a:buNone/>
            </a:pPr>
            <a:r>
              <a:rPr lang="en-US" sz="1550" b="1" dirty="0">
                <a:solidFill>
                  <a:srgbClr val="12294D"/>
                </a:solidFill>
                <a:latin typeface="Calibri" pitchFamily="34" charset="0"/>
                <a:ea typeface="Calibri" pitchFamily="34" charset="-122"/>
                <a:cs typeface="Calibri" pitchFamily="34" charset="-120"/>
              </a:rPr>
              <a:t>Android Call Logger &amp; Mobile API</a:t>
            </a:r>
            <a:endParaRPr lang="en-US" sz="1550" dirty="0"/>
          </a:p>
        </p:txBody>
      </p:sp>
      <p:sp>
        <p:nvSpPr>
          <p:cNvPr id="8" name="Text 6"/>
          <p:cNvSpPr/>
          <p:nvPr/>
        </p:nvSpPr>
        <p:spPr>
          <a:xfrm>
            <a:off x="914400" y="2514600"/>
            <a:ext cx="4754880" cy="3291840"/>
          </a:xfrm>
          <a:prstGeom prst="rect">
            <a:avLst/>
          </a:prstGeom>
          <a:noFill/>
          <a:ln/>
        </p:spPr>
        <p:txBody>
          <a:bodyPr wrap="square" lIns="0" tIns="0" rIns="0" bIns="0" rtlCol="0" anchor="ctr"/>
          <a:lstStyle/>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Extends the platform to Android devices used by field and telecalling agents. Synchronizes call logs — and call audio where applicable — to the central system in near real time, authenticated via OTP-based login.</a:t>
            </a:r>
            <a:endParaRPr lang="en-US" sz="1200" dirty="0"/>
          </a:p>
          <a:p>
            <a:pPr indent="0" marL="0">
              <a:lnSpc>
                <a:spcPct val="130000"/>
              </a:lnSpc>
              <a:buNone/>
            </a:pPr>
            <a:endParaRPr lang="en-US" sz="1200" dirty="0"/>
          </a:p>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A dedicated mobile API exposes agent dashboards, lead profiles, call history, and configurable filters for effective on-the-move work.</a:t>
            </a:r>
            <a:endParaRPr lang="en-US" sz="1200" dirty="0"/>
          </a:p>
        </p:txBody>
      </p:sp>
      <p:sp>
        <p:nvSpPr>
          <p:cNvPr id="9" name="Shape 7"/>
          <p:cNvSpPr/>
          <p:nvPr/>
        </p:nvSpPr>
        <p:spPr>
          <a:xfrm>
            <a:off x="6263640" y="1554480"/>
            <a:ext cx="5486400" cy="4434840"/>
          </a:xfrm>
          <a:prstGeom prst="roundRect">
            <a:avLst>
              <a:gd name="adj" fmla="val 2062"/>
            </a:avLst>
          </a:prstGeom>
          <a:solidFill>
            <a:srgbClr val="F7FAFD"/>
          </a:solidFill>
          <a:ln w="12700">
            <a:solidFill>
              <a:srgbClr val="DCE9F7"/>
            </a:solidFill>
            <a:prstDash val="solid"/>
          </a:ln>
        </p:spPr>
      </p:sp>
      <p:sp>
        <p:nvSpPr>
          <p:cNvPr id="10" name="Shape 8"/>
          <p:cNvSpPr/>
          <p:nvPr/>
        </p:nvSpPr>
        <p:spPr>
          <a:xfrm>
            <a:off x="6583680" y="1783080"/>
            <a:ext cx="548640" cy="548640"/>
          </a:xfrm>
          <a:prstGeom prst="ellipse">
            <a:avLst/>
          </a:prstGeom>
          <a:solidFill>
            <a:srgbClr val="1B3A6B"/>
          </a:solidFill>
          <a:ln/>
        </p:spPr>
      </p:sp>
      <p:sp>
        <p:nvSpPr>
          <p:cNvPr id="11" name="Text 9"/>
          <p:cNvSpPr/>
          <p:nvPr/>
        </p:nvSpPr>
        <p:spPr>
          <a:xfrm>
            <a:off x="6583680" y="1783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4</a:t>
            </a:r>
            <a:endParaRPr lang="en-US" sz="1560" dirty="0"/>
          </a:p>
        </p:txBody>
      </p:sp>
      <p:sp>
        <p:nvSpPr>
          <p:cNvPr id="12" name="Text 10"/>
          <p:cNvSpPr/>
          <p:nvPr/>
        </p:nvSpPr>
        <p:spPr>
          <a:xfrm>
            <a:off x="7315200" y="1783080"/>
            <a:ext cx="4206240" cy="548640"/>
          </a:xfrm>
          <a:prstGeom prst="rect">
            <a:avLst/>
          </a:prstGeom>
          <a:noFill/>
          <a:ln/>
        </p:spPr>
        <p:txBody>
          <a:bodyPr wrap="square" lIns="0" tIns="0" rIns="0" bIns="0" rtlCol="0" anchor="ctr"/>
          <a:lstStyle/>
          <a:p>
            <a:pPr indent="0" marL="0">
              <a:buNone/>
            </a:pPr>
            <a:r>
              <a:rPr lang="en-US" sz="1550" b="1" dirty="0">
                <a:solidFill>
                  <a:srgbClr val="12294D"/>
                </a:solidFill>
                <a:latin typeface="Calibri" pitchFamily="34" charset="0"/>
                <a:ea typeface="Calibri" pitchFamily="34" charset="-122"/>
                <a:cs typeface="Calibri" pitchFamily="34" charset="-120"/>
              </a:rPr>
              <a:t>Geofenced Attendance &amp; Field Interaction</a:t>
            </a:r>
            <a:endParaRPr lang="en-US" sz="1550" dirty="0"/>
          </a:p>
        </p:txBody>
      </p:sp>
      <p:sp>
        <p:nvSpPr>
          <p:cNvPr id="13" name="Text 11"/>
          <p:cNvSpPr/>
          <p:nvPr/>
        </p:nvSpPr>
        <p:spPr>
          <a:xfrm>
            <a:off x="6629400" y="2514600"/>
            <a:ext cx="4754880" cy="3291840"/>
          </a:xfrm>
          <a:prstGeom prst="rect">
            <a:avLst/>
          </a:prstGeom>
          <a:noFill/>
          <a:ln/>
        </p:spPr>
        <p:txBody>
          <a:bodyPr wrap="square" lIns="0" tIns="0" rIns="0" bIns="0" rtlCol="0" anchor="ctr"/>
          <a:lstStyle/>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Implements GPS-based check-in/check-out for field executives, validated against a configurable geofence radius around a designated location.</a:t>
            </a:r>
            <a:endParaRPr lang="en-US" sz="1200" dirty="0"/>
          </a:p>
          <a:p>
            <a:pPr indent="0" marL="0">
              <a:lnSpc>
                <a:spcPct val="130000"/>
              </a:lnSpc>
              <a:buNone/>
            </a:pPr>
            <a:endParaRPr lang="en-US" sz="1200" dirty="0"/>
          </a:p>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Also supports logging of field/customer visits with GPS-tagged interactions, recorded outcomes, and follow-up scheduling — giving management visibility without manual reporting.</a:t>
            </a:r>
            <a:endParaRPr lang="en-US" sz="1200" dirty="0"/>
          </a:p>
        </p:txBody>
      </p:sp>
      <p:sp>
        <p:nvSpPr>
          <p:cNvPr id="14" name="Text 12"/>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15" name="Text 13"/>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Core Modules — III</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Service delivery, performance, and automation</a:t>
            </a:r>
            <a:endParaRPr lang="en-US" sz="1350" dirty="0"/>
          </a:p>
        </p:txBody>
      </p:sp>
      <p:sp>
        <p:nvSpPr>
          <p:cNvPr id="4" name="Shape 2"/>
          <p:cNvSpPr/>
          <p:nvPr/>
        </p:nvSpPr>
        <p:spPr>
          <a:xfrm>
            <a:off x="548640" y="1554480"/>
            <a:ext cx="5486400" cy="4434840"/>
          </a:xfrm>
          <a:prstGeom prst="roundRect">
            <a:avLst>
              <a:gd name="adj" fmla="val 2062"/>
            </a:avLst>
          </a:prstGeom>
          <a:solidFill>
            <a:srgbClr val="F7FAFD"/>
          </a:solidFill>
          <a:ln w="12700">
            <a:solidFill>
              <a:srgbClr val="DCE9F7"/>
            </a:solidFill>
            <a:prstDash val="solid"/>
          </a:ln>
        </p:spPr>
      </p:sp>
      <p:sp>
        <p:nvSpPr>
          <p:cNvPr id="5" name="Shape 3"/>
          <p:cNvSpPr/>
          <p:nvPr/>
        </p:nvSpPr>
        <p:spPr>
          <a:xfrm>
            <a:off x="868680" y="1783080"/>
            <a:ext cx="548640" cy="548640"/>
          </a:xfrm>
          <a:prstGeom prst="ellipse">
            <a:avLst/>
          </a:prstGeom>
          <a:solidFill>
            <a:srgbClr val="1B3A6B"/>
          </a:solidFill>
          <a:ln/>
        </p:spPr>
      </p:sp>
      <p:sp>
        <p:nvSpPr>
          <p:cNvPr id="6" name="Text 4"/>
          <p:cNvSpPr/>
          <p:nvPr/>
        </p:nvSpPr>
        <p:spPr>
          <a:xfrm>
            <a:off x="868680" y="1783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5</a:t>
            </a:r>
            <a:endParaRPr lang="en-US" sz="1560" dirty="0"/>
          </a:p>
        </p:txBody>
      </p:sp>
      <p:sp>
        <p:nvSpPr>
          <p:cNvPr id="7" name="Text 5"/>
          <p:cNvSpPr/>
          <p:nvPr/>
        </p:nvSpPr>
        <p:spPr>
          <a:xfrm>
            <a:off x="1600200" y="1783080"/>
            <a:ext cx="4206240" cy="548640"/>
          </a:xfrm>
          <a:prstGeom prst="rect">
            <a:avLst/>
          </a:prstGeom>
          <a:noFill/>
          <a:ln/>
        </p:spPr>
        <p:txBody>
          <a:bodyPr wrap="square" lIns="0" tIns="0" rIns="0" bIns="0" rtlCol="0" anchor="ctr"/>
          <a:lstStyle/>
          <a:p>
            <a:pPr indent="0" marL="0">
              <a:buNone/>
            </a:pPr>
            <a:r>
              <a:rPr lang="en-US" sz="1550" b="1" dirty="0">
                <a:solidFill>
                  <a:srgbClr val="12294D"/>
                </a:solidFill>
                <a:latin typeface="Calibri" pitchFamily="34" charset="0"/>
                <a:ea typeface="Calibri" pitchFamily="34" charset="-122"/>
                <a:cs typeface="Calibri" pitchFamily="34" charset="-120"/>
              </a:rPr>
              <a:t>Helpdesk &amp; SLA Engine</a:t>
            </a:r>
            <a:endParaRPr lang="en-US" sz="1550" dirty="0"/>
          </a:p>
        </p:txBody>
      </p:sp>
      <p:sp>
        <p:nvSpPr>
          <p:cNvPr id="8" name="Text 6"/>
          <p:cNvSpPr/>
          <p:nvPr/>
        </p:nvSpPr>
        <p:spPr>
          <a:xfrm>
            <a:off x="914400" y="2514600"/>
            <a:ext cx="4754880" cy="3291840"/>
          </a:xfrm>
          <a:prstGeom prst="rect">
            <a:avLst/>
          </a:prstGeom>
          <a:noFill/>
          <a:ln/>
        </p:spPr>
        <p:txBody>
          <a:bodyPr wrap="square" lIns="0" tIns="0" rIns="0" bIns="0" rtlCol="0" anchor="ctr"/>
          <a:lstStyle/>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Provides ticket management with configurable priorities, agent assignment, threaded replies, and bulk status updates.</a:t>
            </a:r>
            <a:endParaRPr lang="en-US" sz="1200" dirty="0"/>
          </a:p>
          <a:p>
            <a:pPr indent="0" marL="0">
              <a:lnSpc>
                <a:spcPct val="130000"/>
              </a:lnSpc>
              <a:buNone/>
            </a:pPr>
            <a:endParaRPr lang="en-US" sz="1200" dirty="0"/>
          </a:p>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An SLA management engine tracks response and resolution timelines, detects breaches, and triggers automated escalation. A knowledge base supports self-service resolution.</a:t>
            </a:r>
            <a:endParaRPr lang="en-US" sz="1200" dirty="0"/>
          </a:p>
        </p:txBody>
      </p:sp>
      <p:sp>
        <p:nvSpPr>
          <p:cNvPr id="9" name="Shape 7"/>
          <p:cNvSpPr/>
          <p:nvPr/>
        </p:nvSpPr>
        <p:spPr>
          <a:xfrm>
            <a:off x="6263640" y="1554480"/>
            <a:ext cx="5486400" cy="4434840"/>
          </a:xfrm>
          <a:prstGeom prst="roundRect">
            <a:avLst>
              <a:gd name="adj" fmla="val 2062"/>
            </a:avLst>
          </a:prstGeom>
          <a:solidFill>
            <a:srgbClr val="F7FAFD"/>
          </a:solidFill>
          <a:ln w="12700">
            <a:solidFill>
              <a:srgbClr val="DCE9F7"/>
            </a:solidFill>
            <a:prstDash val="solid"/>
          </a:ln>
        </p:spPr>
      </p:sp>
      <p:sp>
        <p:nvSpPr>
          <p:cNvPr id="10" name="Shape 8"/>
          <p:cNvSpPr/>
          <p:nvPr/>
        </p:nvSpPr>
        <p:spPr>
          <a:xfrm>
            <a:off x="6583680" y="1783080"/>
            <a:ext cx="548640" cy="548640"/>
          </a:xfrm>
          <a:prstGeom prst="ellipse">
            <a:avLst/>
          </a:prstGeom>
          <a:solidFill>
            <a:srgbClr val="1B3A6B"/>
          </a:solidFill>
          <a:ln/>
        </p:spPr>
      </p:sp>
      <p:sp>
        <p:nvSpPr>
          <p:cNvPr id="11" name="Text 9"/>
          <p:cNvSpPr/>
          <p:nvPr/>
        </p:nvSpPr>
        <p:spPr>
          <a:xfrm>
            <a:off x="6583680" y="1783080"/>
            <a:ext cx="548640" cy="548640"/>
          </a:xfrm>
          <a:prstGeom prst="rect">
            <a:avLst/>
          </a:prstGeom>
          <a:noFill/>
          <a:ln/>
        </p:spPr>
        <p:txBody>
          <a:bodyPr wrap="square" lIns="0" tIns="0" rIns="0" bIns="0" rtlCol="0" anchor="ctr"/>
          <a:lstStyle/>
          <a:p>
            <a:pPr algn="ctr" indent="0" marL="0">
              <a:buNone/>
            </a:pPr>
            <a:r>
              <a:rPr lang="en-US" sz="1560" b="1" dirty="0">
                <a:solidFill>
                  <a:srgbClr val="FFFFFF"/>
                </a:solidFill>
                <a:latin typeface="Calibri" pitchFamily="34" charset="0"/>
                <a:ea typeface="Calibri" pitchFamily="34" charset="-122"/>
                <a:cs typeface="Calibri" pitchFamily="34" charset="-120"/>
              </a:rPr>
              <a:t>6</a:t>
            </a:r>
            <a:endParaRPr lang="en-US" sz="1560" dirty="0"/>
          </a:p>
        </p:txBody>
      </p:sp>
      <p:sp>
        <p:nvSpPr>
          <p:cNvPr id="12" name="Text 10"/>
          <p:cNvSpPr/>
          <p:nvPr/>
        </p:nvSpPr>
        <p:spPr>
          <a:xfrm>
            <a:off x="7315200" y="1783080"/>
            <a:ext cx="4206240" cy="548640"/>
          </a:xfrm>
          <a:prstGeom prst="rect">
            <a:avLst/>
          </a:prstGeom>
          <a:noFill/>
          <a:ln/>
        </p:spPr>
        <p:txBody>
          <a:bodyPr wrap="square" lIns="0" tIns="0" rIns="0" bIns="0" rtlCol="0" anchor="ctr"/>
          <a:lstStyle/>
          <a:p>
            <a:pPr indent="0" marL="0">
              <a:buNone/>
            </a:pPr>
            <a:r>
              <a:rPr lang="en-US" sz="1550" b="1" dirty="0">
                <a:solidFill>
                  <a:srgbClr val="12294D"/>
                </a:solidFill>
                <a:latin typeface="Calibri" pitchFamily="34" charset="0"/>
                <a:ea typeface="Calibri" pitchFamily="34" charset="-122"/>
                <a:cs typeface="Calibri" pitchFamily="34" charset="-120"/>
              </a:rPr>
              <a:t>Agent Performance &amp; Automation</a:t>
            </a:r>
            <a:endParaRPr lang="en-US" sz="1550" dirty="0"/>
          </a:p>
        </p:txBody>
      </p:sp>
      <p:sp>
        <p:nvSpPr>
          <p:cNvPr id="13" name="Text 11"/>
          <p:cNvSpPr/>
          <p:nvPr/>
        </p:nvSpPr>
        <p:spPr>
          <a:xfrm>
            <a:off x="6629400" y="2514600"/>
            <a:ext cx="4754880" cy="3291840"/>
          </a:xfrm>
          <a:prstGeom prst="rect">
            <a:avLst/>
          </a:prstGeom>
          <a:noFill/>
          <a:ln/>
        </p:spPr>
        <p:txBody>
          <a:bodyPr wrap="square" lIns="0" tIns="0" rIns="0" bIns="0" rtlCol="0" anchor="ctr"/>
          <a:lstStyle/>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Tracks agent break management (start/end, reasons, live status) and violation logging, with attendance compliance reports for a consolidated performance view.</a:t>
            </a:r>
            <a:endParaRPr lang="en-US" sz="1200" dirty="0"/>
          </a:p>
          <a:p>
            <a:pPr indent="0" marL="0">
              <a:lnSpc>
                <a:spcPct val="130000"/>
              </a:lnSpc>
              <a:buNone/>
            </a:pPr>
            <a:endParaRPr lang="en-US" sz="1200" dirty="0"/>
          </a:p>
          <a:p>
            <a:pPr indent="0" marL="0">
              <a:lnSpc>
                <a:spcPct val="130000"/>
              </a:lnSpc>
              <a:buNone/>
            </a:pPr>
            <a:r>
              <a:rPr lang="en-US" sz="1200" dirty="0">
                <a:solidFill>
                  <a:srgbClr val="50606E"/>
                </a:solidFill>
                <a:latin typeface="Calibri" pitchFamily="34" charset="0"/>
                <a:ea typeface="Calibri" pitchFamily="34" charset="-122"/>
                <a:cs typeface="Calibri" pitchFamily="34" charset="-120"/>
              </a:rPr>
              <a:t>A trigger-action automation builder covers automated notifications and stage-update automation, alongside a system telemetry and diagnostics dashboard for operational health.</a:t>
            </a:r>
            <a:endParaRPr lang="en-US" sz="1200" dirty="0"/>
          </a:p>
        </p:txBody>
      </p:sp>
      <p:sp>
        <p:nvSpPr>
          <p:cNvPr id="14" name="Text 12"/>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15" name="Text 13"/>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Development Methodology</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SDLC phases followed during the internship</a:t>
            </a:r>
            <a:endParaRPr lang="en-US" sz="1350" dirty="0"/>
          </a:p>
        </p:txBody>
      </p:sp>
      <p:sp>
        <p:nvSpPr>
          <p:cNvPr id="4" name="Shape 2"/>
          <p:cNvSpPr/>
          <p:nvPr/>
        </p:nvSpPr>
        <p:spPr>
          <a:xfrm>
            <a:off x="640080" y="1783080"/>
            <a:ext cx="1965960" cy="1188720"/>
          </a:xfrm>
          <a:prstGeom prst="roundRect">
            <a:avLst>
              <a:gd name="adj" fmla="val 6154"/>
            </a:avLst>
          </a:prstGeom>
          <a:solidFill>
            <a:srgbClr val="1B3A6B"/>
          </a:solidFill>
          <a:ln/>
        </p:spPr>
      </p:sp>
      <p:sp>
        <p:nvSpPr>
          <p:cNvPr id="5" name="Text 3"/>
          <p:cNvSpPr/>
          <p:nvPr/>
        </p:nvSpPr>
        <p:spPr>
          <a:xfrm>
            <a:off x="749808" y="1856232"/>
            <a:ext cx="548640" cy="365760"/>
          </a:xfrm>
          <a:prstGeom prst="rect">
            <a:avLst/>
          </a:prstGeom>
          <a:noFill/>
          <a:ln/>
        </p:spPr>
        <p:txBody>
          <a:bodyPr wrap="square" lIns="0" tIns="0" rIns="0" bIns="0" rtlCol="0" anchor="ctr"/>
          <a:lstStyle/>
          <a:p>
            <a:pPr indent="0" marL="0">
              <a:buNone/>
            </a:pPr>
            <a:r>
              <a:rPr lang="en-US" sz="1800" b="1" dirty="0">
                <a:solidFill>
                  <a:srgbClr val="9FC1E8"/>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731520" y="2240280"/>
            <a:ext cx="1783080" cy="658368"/>
          </a:xfrm>
          <a:prstGeom prst="rect">
            <a:avLst/>
          </a:prstGeom>
          <a:noFill/>
          <a:ln/>
        </p:spPr>
        <p:txBody>
          <a:bodyPr wrap="square" lIns="0" tIns="0" rIns="0" bIns="0" rtlCol="0" anchor="t"/>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Requirement</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Understanding</a:t>
            </a:r>
            <a:endParaRPr lang="en-US" sz="1150" dirty="0"/>
          </a:p>
        </p:txBody>
      </p:sp>
      <p:sp>
        <p:nvSpPr>
          <p:cNvPr id="7" name="Shape 5"/>
          <p:cNvSpPr/>
          <p:nvPr/>
        </p:nvSpPr>
        <p:spPr>
          <a:xfrm>
            <a:off x="2606040" y="2377440"/>
            <a:ext cx="256032" cy="0"/>
          </a:xfrm>
          <a:prstGeom prst="line">
            <a:avLst/>
          </a:prstGeom>
          <a:noFill/>
          <a:ln w="22225">
            <a:solidFill>
              <a:srgbClr val="1791A6"/>
            </a:solidFill>
            <a:prstDash val="solid"/>
            <a:tailEnd type="triangle"/>
          </a:ln>
        </p:spPr>
      </p:sp>
      <p:sp>
        <p:nvSpPr>
          <p:cNvPr id="8" name="Shape 6"/>
          <p:cNvSpPr/>
          <p:nvPr/>
        </p:nvSpPr>
        <p:spPr>
          <a:xfrm>
            <a:off x="2862072" y="1783080"/>
            <a:ext cx="1965960" cy="1188720"/>
          </a:xfrm>
          <a:prstGeom prst="roundRect">
            <a:avLst>
              <a:gd name="adj" fmla="val 6154"/>
            </a:avLst>
          </a:prstGeom>
          <a:solidFill>
            <a:srgbClr val="1B3A6B"/>
          </a:solidFill>
          <a:ln/>
        </p:spPr>
      </p:sp>
      <p:sp>
        <p:nvSpPr>
          <p:cNvPr id="9" name="Text 7"/>
          <p:cNvSpPr/>
          <p:nvPr/>
        </p:nvSpPr>
        <p:spPr>
          <a:xfrm>
            <a:off x="2971800" y="1856232"/>
            <a:ext cx="548640" cy="365760"/>
          </a:xfrm>
          <a:prstGeom prst="rect">
            <a:avLst/>
          </a:prstGeom>
          <a:noFill/>
          <a:ln/>
        </p:spPr>
        <p:txBody>
          <a:bodyPr wrap="square" lIns="0" tIns="0" rIns="0" bIns="0" rtlCol="0" anchor="ctr"/>
          <a:lstStyle/>
          <a:p>
            <a:pPr indent="0" marL="0">
              <a:buNone/>
            </a:pPr>
            <a:r>
              <a:rPr lang="en-US" sz="1800" b="1" dirty="0">
                <a:solidFill>
                  <a:srgbClr val="9FC1E8"/>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2953512" y="2240280"/>
            <a:ext cx="1783080" cy="658368"/>
          </a:xfrm>
          <a:prstGeom prst="rect">
            <a:avLst/>
          </a:prstGeom>
          <a:noFill/>
          <a:ln/>
        </p:spPr>
        <p:txBody>
          <a:bodyPr wrap="square" lIns="0" tIns="0" rIns="0" bIns="0" rtlCol="0" anchor="t"/>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Design</a:t>
            </a:r>
            <a:endParaRPr lang="en-US" sz="1150" dirty="0"/>
          </a:p>
        </p:txBody>
      </p:sp>
      <p:sp>
        <p:nvSpPr>
          <p:cNvPr id="11" name="Shape 9"/>
          <p:cNvSpPr/>
          <p:nvPr/>
        </p:nvSpPr>
        <p:spPr>
          <a:xfrm>
            <a:off x="4828032" y="2377440"/>
            <a:ext cx="256032" cy="0"/>
          </a:xfrm>
          <a:prstGeom prst="line">
            <a:avLst/>
          </a:prstGeom>
          <a:noFill/>
          <a:ln w="22225">
            <a:solidFill>
              <a:srgbClr val="1791A6"/>
            </a:solidFill>
            <a:prstDash val="solid"/>
            <a:tailEnd type="triangle"/>
          </a:ln>
        </p:spPr>
      </p:sp>
      <p:sp>
        <p:nvSpPr>
          <p:cNvPr id="12" name="Shape 10"/>
          <p:cNvSpPr/>
          <p:nvPr/>
        </p:nvSpPr>
        <p:spPr>
          <a:xfrm>
            <a:off x="5084064" y="1783080"/>
            <a:ext cx="1965960" cy="1188720"/>
          </a:xfrm>
          <a:prstGeom prst="roundRect">
            <a:avLst>
              <a:gd name="adj" fmla="val 6154"/>
            </a:avLst>
          </a:prstGeom>
          <a:solidFill>
            <a:srgbClr val="1B3A6B"/>
          </a:solidFill>
          <a:ln/>
        </p:spPr>
      </p:sp>
      <p:sp>
        <p:nvSpPr>
          <p:cNvPr id="13" name="Text 11"/>
          <p:cNvSpPr/>
          <p:nvPr/>
        </p:nvSpPr>
        <p:spPr>
          <a:xfrm>
            <a:off x="5193792" y="1856232"/>
            <a:ext cx="548640" cy="365760"/>
          </a:xfrm>
          <a:prstGeom prst="rect">
            <a:avLst/>
          </a:prstGeom>
          <a:noFill/>
          <a:ln/>
        </p:spPr>
        <p:txBody>
          <a:bodyPr wrap="square" lIns="0" tIns="0" rIns="0" bIns="0" rtlCol="0" anchor="ctr"/>
          <a:lstStyle/>
          <a:p>
            <a:pPr indent="0" marL="0">
              <a:buNone/>
            </a:pPr>
            <a:r>
              <a:rPr lang="en-US" sz="1800" b="1" dirty="0">
                <a:solidFill>
                  <a:srgbClr val="9FC1E8"/>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5175504" y="2240280"/>
            <a:ext cx="1783080" cy="658368"/>
          </a:xfrm>
          <a:prstGeom prst="rect">
            <a:avLst/>
          </a:prstGeom>
          <a:noFill/>
          <a:ln/>
        </p:spPr>
        <p:txBody>
          <a:bodyPr wrap="square" lIns="0" tIns="0" rIns="0" bIns="0" rtlCol="0" anchor="t"/>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Implementation</a:t>
            </a:r>
            <a:endParaRPr lang="en-US" sz="1150" dirty="0"/>
          </a:p>
        </p:txBody>
      </p:sp>
      <p:sp>
        <p:nvSpPr>
          <p:cNvPr id="15" name="Shape 13"/>
          <p:cNvSpPr/>
          <p:nvPr/>
        </p:nvSpPr>
        <p:spPr>
          <a:xfrm>
            <a:off x="7050024" y="2377440"/>
            <a:ext cx="256032" cy="0"/>
          </a:xfrm>
          <a:prstGeom prst="line">
            <a:avLst/>
          </a:prstGeom>
          <a:noFill/>
          <a:ln w="22225">
            <a:solidFill>
              <a:srgbClr val="1791A6"/>
            </a:solidFill>
            <a:prstDash val="solid"/>
            <a:tailEnd type="triangle"/>
          </a:ln>
        </p:spPr>
      </p:sp>
      <p:sp>
        <p:nvSpPr>
          <p:cNvPr id="16" name="Shape 14"/>
          <p:cNvSpPr/>
          <p:nvPr/>
        </p:nvSpPr>
        <p:spPr>
          <a:xfrm>
            <a:off x="7306056" y="1783080"/>
            <a:ext cx="1965960" cy="1188720"/>
          </a:xfrm>
          <a:prstGeom prst="roundRect">
            <a:avLst>
              <a:gd name="adj" fmla="val 6154"/>
            </a:avLst>
          </a:prstGeom>
          <a:solidFill>
            <a:srgbClr val="1791A6"/>
          </a:solidFill>
          <a:ln/>
        </p:spPr>
      </p:sp>
      <p:sp>
        <p:nvSpPr>
          <p:cNvPr id="17" name="Text 15"/>
          <p:cNvSpPr/>
          <p:nvPr/>
        </p:nvSpPr>
        <p:spPr>
          <a:xfrm>
            <a:off x="7415784" y="1856232"/>
            <a:ext cx="548640" cy="365760"/>
          </a:xfrm>
          <a:prstGeom prst="rect">
            <a:avLst/>
          </a:prstGeom>
          <a:noFill/>
          <a:ln/>
        </p:spPr>
        <p:txBody>
          <a:bodyPr wrap="square" lIns="0" tIns="0" rIns="0" bIns="0" rtlCol="0" anchor="ctr"/>
          <a:lstStyle/>
          <a:p>
            <a:pPr indent="0" marL="0">
              <a:buNone/>
            </a:pPr>
            <a:r>
              <a:rPr lang="en-US" sz="1800" b="1" dirty="0">
                <a:solidFill>
                  <a:srgbClr val="9FC1E8"/>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7397496" y="2240280"/>
            <a:ext cx="1783080" cy="658368"/>
          </a:xfrm>
          <a:prstGeom prst="rect">
            <a:avLst/>
          </a:prstGeom>
          <a:noFill/>
          <a:ln/>
        </p:spPr>
        <p:txBody>
          <a:bodyPr wrap="square" lIns="0" tIns="0" rIns="0" bIns="0" rtlCol="0" anchor="t"/>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Testing &amp;</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Debugging</a:t>
            </a:r>
            <a:endParaRPr lang="en-US" sz="1150" dirty="0"/>
          </a:p>
        </p:txBody>
      </p:sp>
      <p:sp>
        <p:nvSpPr>
          <p:cNvPr id="19" name="Shape 17"/>
          <p:cNvSpPr/>
          <p:nvPr/>
        </p:nvSpPr>
        <p:spPr>
          <a:xfrm>
            <a:off x="9272016" y="2377440"/>
            <a:ext cx="256032" cy="0"/>
          </a:xfrm>
          <a:prstGeom prst="line">
            <a:avLst/>
          </a:prstGeom>
          <a:noFill/>
          <a:ln w="22225">
            <a:solidFill>
              <a:srgbClr val="1791A6"/>
            </a:solidFill>
            <a:prstDash val="solid"/>
            <a:tailEnd type="triangle"/>
          </a:ln>
        </p:spPr>
      </p:sp>
      <p:sp>
        <p:nvSpPr>
          <p:cNvPr id="20" name="Shape 18"/>
          <p:cNvSpPr/>
          <p:nvPr/>
        </p:nvSpPr>
        <p:spPr>
          <a:xfrm>
            <a:off x="9528048" y="1783080"/>
            <a:ext cx="1965960" cy="1188720"/>
          </a:xfrm>
          <a:prstGeom prst="roundRect">
            <a:avLst>
              <a:gd name="adj" fmla="val 6154"/>
            </a:avLst>
          </a:prstGeom>
          <a:solidFill>
            <a:srgbClr val="1B3A6B"/>
          </a:solidFill>
          <a:ln/>
        </p:spPr>
      </p:sp>
      <p:sp>
        <p:nvSpPr>
          <p:cNvPr id="21" name="Text 19"/>
          <p:cNvSpPr/>
          <p:nvPr/>
        </p:nvSpPr>
        <p:spPr>
          <a:xfrm>
            <a:off x="9637776" y="1856232"/>
            <a:ext cx="548640" cy="365760"/>
          </a:xfrm>
          <a:prstGeom prst="rect">
            <a:avLst/>
          </a:prstGeom>
          <a:noFill/>
          <a:ln/>
        </p:spPr>
        <p:txBody>
          <a:bodyPr wrap="square" lIns="0" tIns="0" rIns="0" bIns="0" rtlCol="0" anchor="ctr"/>
          <a:lstStyle/>
          <a:p>
            <a:pPr indent="0" marL="0">
              <a:buNone/>
            </a:pPr>
            <a:r>
              <a:rPr lang="en-US" sz="1800" b="1" dirty="0">
                <a:solidFill>
                  <a:srgbClr val="9FC1E8"/>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9619488" y="2240280"/>
            <a:ext cx="1783080" cy="658368"/>
          </a:xfrm>
          <a:prstGeom prst="rect">
            <a:avLst/>
          </a:prstGeom>
          <a:noFill/>
          <a:ln/>
        </p:spPr>
        <p:txBody>
          <a:bodyPr wrap="square" lIns="0" tIns="0" rIns="0" bIns="0" rtlCol="0" anchor="t"/>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Deployment</a:t>
            </a:r>
            <a:endParaRPr lang="en-US" sz="1150" dirty="0"/>
          </a:p>
        </p:txBody>
      </p:sp>
      <p:sp>
        <p:nvSpPr>
          <p:cNvPr id="23" name="Text 21"/>
          <p:cNvSpPr/>
          <p:nvPr/>
        </p:nvSpPr>
        <p:spPr>
          <a:xfrm>
            <a:off x="640080" y="3383280"/>
            <a:ext cx="10881360" cy="1005840"/>
          </a:xfrm>
          <a:prstGeom prst="rect">
            <a:avLst/>
          </a:prstGeom>
          <a:noFill/>
          <a:ln/>
        </p:spPr>
        <p:txBody>
          <a:bodyPr wrap="square" lIns="0" tIns="0" rIns="0" bIns="0" rtlCol="0" anchor="ctr"/>
          <a:lstStyle/>
          <a:p>
            <a:pPr indent="0" marL="0">
              <a:lnSpc>
                <a:spcPct val="130000"/>
              </a:lnSpc>
              <a:buNone/>
            </a:pPr>
            <a:r>
              <a:rPr lang="en-US" sz="1300" dirty="0">
                <a:solidFill>
                  <a:srgbClr val="50606E"/>
                </a:solidFill>
                <a:latin typeface="Calibri" pitchFamily="34" charset="0"/>
                <a:ea typeface="Calibri" pitchFamily="34" charset="-122"/>
                <a:cs typeface="Calibri" pitchFamily="34" charset="-120"/>
              </a:rPr>
              <a:t>Laravel's modular structure (separate directories for routes, controllers, models, migrations, and views) made it possible to work on individual modules without modifying the entire application at once. Development was supported by Artisan for scaffolding, Composer/npm for dependency management, and Git for collaborative version control.</a:t>
            </a:r>
            <a:endParaRPr lang="en-US" sz="1300" dirty="0"/>
          </a:p>
        </p:txBody>
      </p:sp>
      <p:sp>
        <p:nvSpPr>
          <p:cNvPr id="24" name="Shape 22"/>
          <p:cNvSpPr/>
          <p:nvPr/>
        </p:nvSpPr>
        <p:spPr>
          <a:xfrm>
            <a:off x="640080" y="4526280"/>
            <a:ext cx="10881360" cy="1691640"/>
          </a:xfrm>
          <a:prstGeom prst="roundRect">
            <a:avLst>
              <a:gd name="adj" fmla="val 4324"/>
            </a:avLst>
          </a:prstGeom>
          <a:solidFill>
            <a:srgbClr val="EAF1FA"/>
          </a:solidFill>
          <a:ln/>
        </p:spPr>
      </p:sp>
      <p:sp>
        <p:nvSpPr>
          <p:cNvPr id="25" name="Text 23"/>
          <p:cNvSpPr/>
          <p:nvPr/>
        </p:nvSpPr>
        <p:spPr>
          <a:xfrm>
            <a:off x="914400" y="4709160"/>
            <a:ext cx="4572000" cy="292608"/>
          </a:xfrm>
          <a:prstGeom prst="rect">
            <a:avLst/>
          </a:prstGeom>
          <a:noFill/>
          <a:ln/>
        </p:spPr>
        <p:txBody>
          <a:bodyPr wrap="square" lIns="0" tIns="0" rIns="0" bIns="0" rtlCol="0" anchor="ctr"/>
          <a:lstStyle/>
          <a:p>
            <a:pPr indent="0" marL="0">
              <a:buNone/>
            </a:pPr>
            <a:r>
              <a:rPr lang="en-US" sz="1150" b="1" spc="120" kern="0" dirty="0">
                <a:solidFill>
                  <a:srgbClr val="1791A6"/>
                </a:solidFill>
                <a:latin typeface="Calibri" pitchFamily="34" charset="0"/>
                <a:ea typeface="Calibri" pitchFamily="34" charset="-122"/>
                <a:cs typeface="Calibri" pitchFamily="34" charset="-120"/>
              </a:rPr>
              <a:t>TESTING &amp; DEBUGGING</a:t>
            </a:r>
            <a:endParaRPr lang="en-US" sz="1150" dirty="0"/>
          </a:p>
        </p:txBody>
      </p:sp>
      <p:sp>
        <p:nvSpPr>
          <p:cNvPr id="26" name="Text 24"/>
          <p:cNvSpPr/>
          <p:nvPr/>
        </p:nvSpPr>
        <p:spPr>
          <a:xfrm>
            <a:off x="914400" y="5029200"/>
            <a:ext cx="10332720" cy="1097280"/>
          </a:xfrm>
          <a:prstGeom prst="rect">
            <a:avLst/>
          </a:prstGeom>
          <a:noFill/>
          <a:ln/>
        </p:spPr>
        <p:txBody>
          <a:bodyPr wrap="square" lIns="0" tIns="0" rIns="0" bIns="0" rtlCol="0" anchor="ctr"/>
          <a:lstStyle/>
          <a:p>
            <a:pPr indent="0" marL="0">
              <a:lnSpc>
                <a:spcPct val="130000"/>
              </a:lnSpc>
              <a:buNone/>
            </a:pPr>
            <a:r>
              <a:rPr lang="en-US" sz="1250" dirty="0">
                <a:solidFill>
                  <a:srgbClr val="12294D"/>
                </a:solidFill>
                <a:latin typeface="Calibri" pitchFamily="34" charset="0"/>
                <a:ea typeface="Calibri" pitchFamily="34" charset="-122"/>
                <a:cs typeface="Calibri" pitchFamily="34" charset="-120"/>
              </a:rPr>
              <a:t>Testing focused on functional verification of components worked on — confirming API endpoints returned expected responses and that form validations behaved correctly. Debugging involved tracing issues through Laravel's logging and error-reporting mechanisms, inspecting database state, and verifying request/response payloads for APIs and webhooks.</a:t>
            </a:r>
            <a:endParaRPr lang="en-US" sz="1250" dirty="0"/>
          </a:p>
        </p:txBody>
      </p:sp>
      <p:sp>
        <p:nvSpPr>
          <p:cNvPr id="27" name="Text 25"/>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28" name="Text 26"/>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Challenges &amp; Solutions</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Technical challenges characteristic of an enterprise platform of this scope</a:t>
            </a:r>
            <a:endParaRPr lang="en-US" sz="1350" dirty="0"/>
          </a:p>
        </p:txBody>
      </p:sp>
      <p:sp>
        <p:nvSpPr>
          <p:cNvPr id="4" name="Shape 2"/>
          <p:cNvSpPr/>
          <p:nvPr/>
        </p:nvSpPr>
        <p:spPr>
          <a:xfrm>
            <a:off x="548640" y="1600200"/>
            <a:ext cx="5440680" cy="1234440"/>
          </a:xfrm>
          <a:prstGeom prst="roundRect">
            <a:avLst>
              <a:gd name="adj" fmla="val 5185"/>
            </a:avLst>
          </a:prstGeom>
          <a:solidFill>
            <a:srgbClr val="F7FAFD"/>
          </a:solidFill>
          <a:ln w="12700">
            <a:solidFill>
              <a:srgbClr val="DCE9F7"/>
            </a:solidFill>
            <a:prstDash val="solid"/>
          </a:ln>
        </p:spPr>
      </p:sp>
      <p:sp>
        <p:nvSpPr>
          <p:cNvPr id="5" name="Shape 3"/>
          <p:cNvSpPr/>
          <p:nvPr/>
        </p:nvSpPr>
        <p:spPr>
          <a:xfrm>
            <a:off x="795528" y="2007108"/>
            <a:ext cx="420624" cy="420624"/>
          </a:xfrm>
          <a:prstGeom prst="ellipse">
            <a:avLst/>
          </a:prstGeom>
          <a:solidFill>
            <a:srgbClr val="1B3A6B"/>
          </a:solidFill>
          <a:ln/>
        </p:spPr>
      </p:sp>
      <p:sp>
        <p:nvSpPr>
          <p:cNvPr id="6" name="Text 4"/>
          <p:cNvSpPr/>
          <p:nvPr/>
        </p:nvSpPr>
        <p:spPr>
          <a:xfrm>
            <a:off x="795528" y="2007108"/>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Calibri" pitchFamily="34" charset="0"/>
                <a:ea typeface="Calibri" pitchFamily="34" charset="-122"/>
                <a:cs typeface="Calibri" pitchFamily="34" charset="-120"/>
              </a:rPr>
              <a:t>1</a:t>
            </a:r>
            <a:endParaRPr lang="en-US" sz="1196" dirty="0"/>
          </a:p>
        </p:txBody>
      </p:sp>
      <p:sp>
        <p:nvSpPr>
          <p:cNvPr id="7" name="Text 5"/>
          <p:cNvSpPr/>
          <p:nvPr/>
        </p:nvSpPr>
        <p:spPr>
          <a:xfrm>
            <a:off x="1371600" y="1719072"/>
            <a:ext cx="4434840" cy="347472"/>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Role-based access control</a:t>
            </a:r>
            <a:endParaRPr lang="en-US" sz="1300" dirty="0"/>
          </a:p>
        </p:txBody>
      </p:sp>
      <p:sp>
        <p:nvSpPr>
          <p:cNvPr id="8" name="Text 6"/>
          <p:cNvSpPr/>
          <p:nvPr/>
        </p:nvSpPr>
        <p:spPr>
          <a:xfrm>
            <a:off x="1371600" y="2075688"/>
            <a:ext cx="4434840" cy="685800"/>
          </a:xfrm>
          <a:prstGeom prst="rect">
            <a:avLst/>
          </a:prstGeom>
          <a:noFill/>
          <a:ln/>
        </p:spPr>
        <p:txBody>
          <a:bodyPr wrap="square" lIns="0" tIns="0" rIns="0" bIns="0" rtlCol="0" anchor="ctr"/>
          <a:lstStyle/>
          <a:p>
            <a:pPr indent="0" marL="0">
              <a:lnSpc>
                <a:spcPct val="120000"/>
              </a:lnSpc>
              <a:buNone/>
            </a:pPr>
            <a:r>
              <a:rPr lang="en-US" sz="1100" dirty="0">
                <a:solidFill>
                  <a:srgbClr val="50606E"/>
                </a:solidFill>
                <a:latin typeface="Calibri" pitchFamily="34" charset="0"/>
                <a:ea typeface="Calibri" pitchFamily="34" charset="-122"/>
                <a:cs typeface="Calibri" pitchFamily="34" charset="-120"/>
              </a:rPr>
              <a:t>Careful use of Laravel's authorization (middleware/policy) mechanisms for multiple user types.</a:t>
            </a:r>
            <a:endParaRPr lang="en-US" sz="1100" dirty="0"/>
          </a:p>
        </p:txBody>
      </p:sp>
      <p:sp>
        <p:nvSpPr>
          <p:cNvPr id="9" name="Shape 7"/>
          <p:cNvSpPr/>
          <p:nvPr/>
        </p:nvSpPr>
        <p:spPr>
          <a:xfrm>
            <a:off x="6172200" y="1600200"/>
            <a:ext cx="5440680" cy="1234440"/>
          </a:xfrm>
          <a:prstGeom prst="roundRect">
            <a:avLst>
              <a:gd name="adj" fmla="val 5185"/>
            </a:avLst>
          </a:prstGeom>
          <a:solidFill>
            <a:srgbClr val="F7FAFD"/>
          </a:solidFill>
          <a:ln w="12700">
            <a:solidFill>
              <a:srgbClr val="DCE9F7"/>
            </a:solidFill>
            <a:prstDash val="solid"/>
          </a:ln>
        </p:spPr>
      </p:sp>
      <p:sp>
        <p:nvSpPr>
          <p:cNvPr id="10" name="Shape 8"/>
          <p:cNvSpPr/>
          <p:nvPr/>
        </p:nvSpPr>
        <p:spPr>
          <a:xfrm>
            <a:off x="6419088" y="2007108"/>
            <a:ext cx="420624" cy="420624"/>
          </a:xfrm>
          <a:prstGeom prst="ellipse">
            <a:avLst/>
          </a:prstGeom>
          <a:solidFill>
            <a:srgbClr val="1791A6"/>
          </a:solidFill>
          <a:ln/>
        </p:spPr>
      </p:sp>
      <p:sp>
        <p:nvSpPr>
          <p:cNvPr id="11" name="Text 9"/>
          <p:cNvSpPr/>
          <p:nvPr/>
        </p:nvSpPr>
        <p:spPr>
          <a:xfrm>
            <a:off x="6419088" y="2007108"/>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Calibri" pitchFamily="34" charset="0"/>
                <a:ea typeface="Calibri" pitchFamily="34" charset="-122"/>
                <a:cs typeface="Calibri" pitchFamily="34" charset="-120"/>
              </a:rPr>
              <a:t>2</a:t>
            </a:r>
            <a:endParaRPr lang="en-US" sz="1196" dirty="0"/>
          </a:p>
        </p:txBody>
      </p:sp>
      <p:sp>
        <p:nvSpPr>
          <p:cNvPr id="12" name="Text 10"/>
          <p:cNvSpPr/>
          <p:nvPr/>
        </p:nvSpPr>
        <p:spPr>
          <a:xfrm>
            <a:off x="6995160" y="1719072"/>
            <a:ext cx="4434840" cy="347472"/>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API authentication for mobile</a:t>
            </a:r>
            <a:endParaRPr lang="en-US" sz="1300" dirty="0"/>
          </a:p>
        </p:txBody>
      </p:sp>
      <p:sp>
        <p:nvSpPr>
          <p:cNvPr id="13" name="Text 11"/>
          <p:cNvSpPr/>
          <p:nvPr/>
        </p:nvSpPr>
        <p:spPr>
          <a:xfrm>
            <a:off x="6995160" y="2075688"/>
            <a:ext cx="4434840" cy="685800"/>
          </a:xfrm>
          <a:prstGeom prst="rect">
            <a:avLst/>
          </a:prstGeom>
          <a:noFill/>
          <a:ln/>
        </p:spPr>
        <p:txBody>
          <a:bodyPr wrap="square" lIns="0" tIns="0" rIns="0" bIns="0" rtlCol="0" anchor="ctr"/>
          <a:lstStyle/>
          <a:p>
            <a:pPr indent="0" marL="0">
              <a:lnSpc>
                <a:spcPct val="120000"/>
              </a:lnSpc>
              <a:buNone/>
            </a:pPr>
            <a:r>
              <a:rPr lang="en-US" sz="1100" dirty="0">
                <a:solidFill>
                  <a:srgbClr val="50606E"/>
                </a:solidFill>
                <a:latin typeface="Calibri" pitchFamily="34" charset="0"/>
                <a:ea typeface="Calibri" pitchFamily="34" charset="-122"/>
                <a:cs typeface="Calibri" pitchFamily="34" charset="-120"/>
              </a:rPr>
              <a:t>Correct configuration of Laravel Sanctum with OTP-based verification for Android clients.</a:t>
            </a:r>
            <a:endParaRPr lang="en-US" sz="1100" dirty="0"/>
          </a:p>
        </p:txBody>
      </p:sp>
      <p:sp>
        <p:nvSpPr>
          <p:cNvPr id="14" name="Shape 12"/>
          <p:cNvSpPr/>
          <p:nvPr/>
        </p:nvSpPr>
        <p:spPr>
          <a:xfrm>
            <a:off x="548640" y="2999232"/>
            <a:ext cx="5440680" cy="1234440"/>
          </a:xfrm>
          <a:prstGeom prst="roundRect">
            <a:avLst>
              <a:gd name="adj" fmla="val 5185"/>
            </a:avLst>
          </a:prstGeom>
          <a:solidFill>
            <a:srgbClr val="F7FAFD"/>
          </a:solidFill>
          <a:ln w="12700">
            <a:solidFill>
              <a:srgbClr val="DCE9F7"/>
            </a:solidFill>
            <a:prstDash val="solid"/>
          </a:ln>
        </p:spPr>
      </p:sp>
      <p:sp>
        <p:nvSpPr>
          <p:cNvPr id="15" name="Shape 13"/>
          <p:cNvSpPr/>
          <p:nvPr/>
        </p:nvSpPr>
        <p:spPr>
          <a:xfrm>
            <a:off x="795528" y="3406140"/>
            <a:ext cx="420624" cy="420624"/>
          </a:xfrm>
          <a:prstGeom prst="ellipse">
            <a:avLst/>
          </a:prstGeom>
          <a:solidFill>
            <a:srgbClr val="1B3A6B"/>
          </a:solidFill>
          <a:ln/>
        </p:spPr>
      </p:sp>
      <p:sp>
        <p:nvSpPr>
          <p:cNvPr id="16" name="Text 14"/>
          <p:cNvSpPr/>
          <p:nvPr/>
        </p:nvSpPr>
        <p:spPr>
          <a:xfrm>
            <a:off x="795528" y="3406140"/>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Calibri" pitchFamily="34" charset="0"/>
                <a:ea typeface="Calibri" pitchFamily="34" charset="-122"/>
                <a:cs typeface="Calibri" pitchFamily="34" charset="-120"/>
              </a:rPr>
              <a:t>3</a:t>
            </a:r>
            <a:endParaRPr lang="en-US" sz="1196" dirty="0"/>
          </a:p>
        </p:txBody>
      </p:sp>
      <p:sp>
        <p:nvSpPr>
          <p:cNvPr id="17" name="Text 15"/>
          <p:cNvSpPr/>
          <p:nvPr/>
        </p:nvSpPr>
        <p:spPr>
          <a:xfrm>
            <a:off x="1371600" y="3118104"/>
            <a:ext cx="4434840" cy="347472"/>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Real-time consistency</a:t>
            </a:r>
            <a:endParaRPr lang="en-US" sz="1300" dirty="0"/>
          </a:p>
        </p:txBody>
      </p:sp>
      <p:sp>
        <p:nvSpPr>
          <p:cNvPr id="18" name="Text 16"/>
          <p:cNvSpPr/>
          <p:nvPr/>
        </p:nvSpPr>
        <p:spPr>
          <a:xfrm>
            <a:off x="1371600" y="3474720"/>
            <a:ext cx="4434840" cy="685800"/>
          </a:xfrm>
          <a:prstGeom prst="rect">
            <a:avLst/>
          </a:prstGeom>
          <a:noFill/>
          <a:ln/>
        </p:spPr>
        <p:txBody>
          <a:bodyPr wrap="square" lIns="0" tIns="0" rIns="0" bIns="0" rtlCol="0" anchor="ctr"/>
          <a:lstStyle/>
          <a:p>
            <a:pPr indent="0" marL="0">
              <a:lnSpc>
                <a:spcPct val="120000"/>
              </a:lnSpc>
              <a:buNone/>
            </a:pPr>
            <a:r>
              <a:rPr lang="en-US" sz="1100" dirty="0">
                <a:solidFill>
                  <a:srgbClr val="50606E"/>
                </a:solidFill>
                <a:latin typeface="Calibri" pitchFamily="34" charset="0"/>
                <a:ea typeface="Calibri" pitchFamily="34" charset="-122"/>
                <a:cs typeface="Calibri" pitchFamily="34" charset="-120"/>
              </a:rPr>
              <a:t>Correctly broadcasting events through Laravel Reverb to keep clients in sync.</a:t>
            </a:r>
            <a:endParaRPr lang="en-US" sz="1100" dirty="0"/>
          </a:p>
        </p:txBody>
      </p:sp>
      <p:sp>
        <p:nvSpPr>
          <p:cNvPr id="19" name="Shape 17"/>
          <p:cNvSpPr/>
          <p:nvPr/>
        </p:nvSpPr>
        <p:spPr>
          <a:xfrm>
            <a:off x="6172200" y="2999232"/>
            <a:ext cx="5440680" cy="1234440"/>
          </a:xfrm>
          <a:prstGeom prst="roundRect">
            <a:avLst>
              <a:gd name="adj" fmla="val 5185"/>
            </a:avLst>
          </a:prstGeom>
          <a:solidFill>
            <a:srgbClr val="F7FAFD"/>
          </a:solidFill>
          <a:ln w="12700">
            <a:solidFill>
              <a:srgbClr val="DCE9F7"/>
            </a:solidFill>
            <a:prstDash val="solid"/>
          </a:ln>
        </p:spPr>
      </p:sp>
      <p:sp>
        <p:nvSpPr>
          <p:cNvPr id="20" name="Shape 18"/>
          <p:cNvSpPr/>
          <p:nvPr/>
        </p:nvSpPr>
        <p:spPr>
          <a:xfrm>
            <a:off x="6419088" y="3406140"/>
            <a:ext cx="420624" cy="420624"/>
          </a:xfrm>
          <a:prstGeom prst="ellipse">
            <a:avLst/>
          </a:prstGeom>
          <a:solidFill>
            <a:srgbClr val="1791A6"/>
          </a:solidFill>
          <a:ln/>
        </p:spPr>
      </p:sp>
      <p:sp>
        <p:nvSpPr>
          <p:cNvPr id="21" name="Text 19"/>
          <p:cNvSpPr/>
          <p:nvPr/>
        </p:nvSpPr>
        <p:spPr>
          <a:xfrm>
            <a:off x="6419088" y="3406140"/>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Calibri" pitchFamily="34" charset="0"/>
                <a:ea typeface="Calibri" pitchFamily="34" charset="-122"/>
                <a:cs typeface="Calibri" pitchFamily="34" charset="-120"/>
              </a:rPr>
              <a:t>4</a:t>
            </a:r>
            <a:endParaRPr lang="en-US" sz="1196" dirty="0"/>
          </a:p>
        </p:txBody>
      </p:sp>
      <p:sp>
        <p:nvSpPr>
          <p:cNvPr id="22" name="Text 20"/>
          <p:cNvSpPr/>
          <p:nvPr/>
        </p:nvSpPr>
        <p:spPr>
          <a:xfrm>
            <a:off x="6995160" y="3118104"/>
            <a:ext cx="4434840" cy="347472"/>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Reliable webhook processing</a:t>
            </a:r>
            <a:endParaRPr lang="en-US" sz="1300" dirty="0"/>
          </a:p>
        </p:txBody>
      </p:sp>
      <p:sp>
        <p:nvSpPr>
          <p:cNvPr id="23" name="Text 21"/>
          <p:cNvSpPr/>
          <p:nvPr/>
        </p:nvSpPr>
        <p:spPr>
          <a:xfrm>
            <a:off x="6995160" y="3474720"/>
            <a:ext cx="4434840" cy="685800"/>
          </a:xfrm>
          <a:prstGeom prst="rect">
            <a:avLst/>
          </a:prstGeom>
          <a:noFill/>
          <a:ln/>
        </p:spPr>
        <p:txBody>
          <a:bodyPr wrap="square" lIns="0" tIns="0" rIns="0" bIns="0" rtlCol="0" anchor="ctr"/>
          <a:lstStyle/>
          <a:p>
            <a:pPr indent="0" marL="0">
              <a:lnSpc>
                <a:spcPct val="120000"/>
              </a:lnSpc>
              <a:buNone/>
            </a:pPr>
            <a:r>
              <a:rPr lang="en-US" sz="1100" dirty="0">
                <a:solidFill>
                  <a:srgbClr val="50606E"/>
                </a:solidFill>
                <a:latin typeface="Calibri" pitchFamily="34" charset="0"/>
                <a:ea typeface="Calibri" pitchFamily="34" charset="-122"/>
                <a:cs typeface="Calibri" pitchFamily="34" charset="-120"/>
              </a:rPr>
              <a:t>Validating and processing telephony CDRs idempotently to avoid duplicate records.</a:t>
            </a:r>
            <a:endParaRPr lang="en-US" sz="1100" dirty="0"/>
          </a:p>
        </p:txBody>
      </p:sp>
      <p:sp>
        <p:nvSpPr>
          <p:cNvPr id="24" name="Shape 22"/>
          <p:cNvSpPr/>
          <p:nvPr/>
        </p:nvSpPr>
        <p:spPr>
          <a:xfrm>
            <a:off x="548640" y="4398264"/>
            <a:ext cx="5440680" cy="1234440"/>
          </a:xfrm>
          <a:prstGeom prst="roundRect">
            <a:avLst>
              <a:gd name="adj" fmla="val 5185"/>
            </a:avLst>
          </a:prstGeom>
          <a:solidFill>
            <a:srgbClr val="F7FAFD"/>
          </a:solidFill>
          <a:ln w="12700">
            <a:solidFill>
              <a:srgbClr val="DCE9F7"/>
            </a:solidFill>
            <a:prstDash val="solid"/>
          </a:ln>
        </p:spPr>
      </p:sp>
      <p:sp>
        <p:nvSpPr>
          <p:cNvPr id="25" name="Shape 23"/>
          <p:cNvSpPr/>
          <p:nvPr/>
        </p:nvSpPr>
        <p:spPr>
          <a:xfrm>
            <a:off x="795528" y="4805172"/>
            <a:ext cx="420624" cy="420624"/>
          </a:xfrm>
          <a:prstGeom prst="ellipse">
            <a:avLst/>
          </a:prstGeom>
          <a:solidFill>
            <a:srgbClr val="1B3A6B"/>
          </a:solidFill>
          <a:ln/>
        </p:spPr>
      </p:sp>
      <p:sp>
        <p:nvSpPr>
          <p:cNvPr id="26" name="Text 24"/>
          <p:cNvSpPr/>
          <p:nvPr/>
        </p:nvSpPr>
        <p:spPr>
          <a:xfrm>
            <a:off x="795528" y="4805172"/>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Calibri" pitchFamily="34" charset="0"/>
                <a:ea typeface="Calibri" pitchFamily="34" charset="-122"/>
                <a:cs typeface="Calibri" pitchFamily="34" charset="-120"/>
              </a:rPr>
              <a:t>5</a:t>
            </a:r>
            <a:endParaRPr lang="en-US" sz="1196" dirty="0"/>
          </a:p>
        </p:txBody>
      </p:sp>
      <p:sp>
        <p:nvSpPr>
          <p:cNvPr id="27" name="Text 25"/>
          <p:cNvSpPr/>
          <p:nvPr/>
        </p:nvSpPr>
        <p:spPr>
          <a:xfrm>
            <a:off x="1371600" y="4517136"/>
            <a:ext cx="4434840" cy="347472"/>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Preventing duplicate leads</a:t>
            </a:r>
            <a:endParaRPr lang="en-US" sz="1300" dirty="0"/>
          </a:p>
        </p:txBody>
      </p:sp>
      <p:sp>
        <p:nvSpPr>
          <p:cNvPr id="28" name="Text 26"/>
          <p:cNvSpPr/>
          <p:nvPr/>
        </p:nvSpPr>
        <p:spPr>
          <a:xfrm>
            <a:off x="1371600" y="4873752"/>
            <a:ext cx="4434840" cy="685800"/>
          </a:xfrm>
          <a:prstGeom prst="rect">
            <a:avLst/>
          </a:prstGeom>
          <a:noFill/>
          <a:ln/>
        </p:spPr>
        <p:txBody>
          <a:bodyPr wrap="square" lIns="0" tIns="0" rIns="0" bIns="0" rtlCol="0" anchor="ctr"/>
          <a:lstStyle/>
          <a:p>
            <a:pPr indent="0" marL="0">
              <a:lnSpc>
                <a:spcPct val="120000"/>
              </a:lnSpc>
              <a:buNone/>
            </a:pPr>
            <a:r>
              <a:rPr lang="en-US" sz="1100" dirty="0">
                <a:solidFill>
                  <a:srgbClr val="50606E"/>
                </a:solidFill>
                <a:latin typeface="Calibri" pitchFamily="34" charset="0"/>
                <a:ea typeface="Calibri" pitchFamily="34" charset="-122"/>
                <a:cs typeface="Calibri" pitchFamily="34" charset="-120"/>
              </a:rPr>
              <a:t>Consistent phone/email uniqueness validation across multiple intake channels.</a:t>
            </a:r>
            <a:endParaRPr lang="en-US" sz="1100" dirty="0"/>
          </a:p>
        </p:txBody>
      </p:sp>
      <p:sp>
        <p:nvSpPr>
          <p:cNvPr id="29" name="Shape 27"/>
          <p:cNvSpPr/>
          <p:nvPr/>
        </p:nvSpPr>
        <p:spPr>
          <a:xfrm>
            <a:off x="6172200" y="4398264"/>
            <a:ext cx="5440680" cy="1234440"/>
          </a:xfrm>
          <a:prstGeom prst="roundRect">
            <a:avLst>
              <a:gd name="adj" fmla="val 5185"/>
            </a:avLst>
          </a:prstGeom>
          <a:solidFill>
            <a:srgbClr val="F7FAFD"/>
          </a:solidFill>
          <a:ln w="12700">
            <a:solidFill>
              <a:srgbClr val="DCE9F7"/>
            </a:solidFill>
            <a:prstDash val="solid"/>
          </a:ln>
        </p:spPr>
      </p:sp>
      <p:sp>
        <p:nvSpPr>
          <p:cNvPr id="30" name="Shape 28"/>
          <p:cNvSpPr/>
          <p:nvPr/>
        </p:nvSpPr>
        <p:spPr>
          <a:xfrm>
            <a:off x="6419088" y="4805172"/>
            <a:ext cx="420624" cy="420624"/>
          </a:xfrm>
          <a:prstGeom prst="ellipse">
            <a:avLst/>
          </a:prstGeom>
          <a:solidFill>
            <a:srgbClr val="1791A6"/>
          </a:solidFill>
          <a:ln/>
        </p:spPr>
      </p:sp>
      <p:sp>
        <p:nvSpPr>
          <p:cNvPr id="31" name="Text 29"/>
          <p:cNvSpPr/>
          <p:nvPr/>
        </p:nvSpPr>
        <p:spPr>
          <a:xfrm>
            <a:off x="6419088" y="4805172"/>
            <a:ext cx="420624" cy="420624"/>
          </a:xfrm>
          <a:prstGeom prst="rect">
            <a:avLst/>
          </a:prstGeom>
          <a:noFill/>
          <a:ln/>
        </p:spPr>
        <p:txBody>
          <a:bodyPr wrap="square" lIns="0" tIns="0" rIns="0" bIns="0" rtlCol="0" anchor="ctr"/>
          <a:lstStyle/>
          <a:p>
            <a:pPr algn="ctr" indent="0" marL="0">
              <a:buNone/>
            </a:pPr>
            <a:r>
              <a:rPr lang="en-US" sz="1196" b="1" dirty="0">
                <a:solidFill>
                  <a:srgbClr val="FFFFFF"/>
                </a:solidFill>
                <a:latin typeface="Calibri" pitchFamily="34" charset="0"/>
                <a:ea typeface="Calibri" pitchFamily="34" charset="-122"/>
                <a:cs typeface="Calibri" pitchFamily="34" charset="-120"/>
              </a:rPr>
              <a:t>6</a:t>
            </a:r>
            <a:endParaRPr lang="en-US" sz="1196" dirty="0"/>
          </a:p>
        </p:txBody>
      </p:sp>
      <p:sp>
        <p:nvSpPr>
          <p:cNvPr id="32" name="Text 30"/>
          <p:cNvSpPr/>
          <p:nvPr/>
        </p:nvSpPr>
        <p:spPr>
          <a:xfrm>
            <a:off x="6995160" y="4517136"/>
            <a:ext cx="4434840" cy="347472"/>
          </a:xfrm>
          <a:prstGeom prst="rect">
            <a:avLst/>
          </a:prstGeom>
          <a:noFill/>
          <a:ln/>
        </p:spPr>
        <p:txBody>
          <a:bodyPr wrap="square" lIns="0" tIns="0" rIns="0" bIns="0" rtlCol="0" anchor="ctr"/>
          <a:lstStyle/>
          <a:p>
            <a:pPr indent="0" marL="0">
              <a:buNone/>
            </a:pPr>
            <a:r>
              <a:rPr lang="en-US" sz="1300" b="1" dirty="0">
                <a:solidFill>
                  <a:srgbClr val="12294D"/>
                </a:solidFill>
                <a:latin typeface="Calibri" pitchFamily="34" charset="0"/>
                <a:ea typeface="Calibri" pitchFamily="34" charset="-122"/>
                <a:cs typeface="Calibri" pitchFamily="34" charset="-120"/>
              </a:rPr>
              <a:t>GPS/location validation</a:t>
            </a:r>
            <a:endParaRPr lang="en-US" sz="1300" dirty="0"/>
          </a:p>
        </p:txBody>
      </p:sp>
      <p:sp>
        <p:nvSpPr>
          <p:cNvPr id="33" name="Text 31"/>
          <p:cNvSpPr/>
          <p:nvPr/>
        </p:nvSpPr>
        <p:spPr>
          <a:xfrm>
            <a:off x="6995160" y="4873752"/>
            <a:ext cx="4434840" cy="685800"/>
          </a:xfrm>
          <a:prstGeom prst="rect">
            <a:avLst/>
          </a:prstGeom>
          <a:noFill/>
          <a:ln/>
        </p:spPr>
        <p:txBody>
          <a:bodyPr wrap="square" lIns="0" tIns="0" rIns="0" bIns="0" rtlCol="0" anchor="ctr"/>
          <a:lstStyle/>
          <a:p>
            <a:pPr indent="0" marL="0">
              <a:lnSpc>
                <a:spcPct val="120000"/>
              </a:lnSpc>
              <a:buNone/>
            </a:pPr>
            <a:r>
              <a:rPr lang="en-US" sz="1100" dirty="0">
                <a:solidFill>
                  <a:srgbClr val="50606E"/>
                </a:solidFill>
                <a:latin typeface="Calibri" pitchFamily="34" charset="0"/>
                <a:ea typeface="Calibri" pitchFamily="34" charset="-122"/>
                <a:cs typeface="Calibri" pitchFamily="34" charset="-120"/>
              </a:rPr>
              <a:t>Accurate, tolerant handling of GPS coordinates against a configurable geofence radius.</a:t>
            </a:r>
            <a:endParaRPr lang="en-US" sz="1100" dirty="0"/>
          </a:p>
        </p:txBody>
      </p:sp>
      <p:sp>
        <p:nvSpPr>
          <p:cNvPr id="34" name="Text 32"/>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35" name="Text 33"/>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Key Learning Outcomes</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Practical skills gained during the internship</a:t>
            </a:r>
            <a:endParaRPr lang="en-US" sz="1350" dirty="0"/>
          </a:p>
        </p:txBody>
      </p:sp>
      <p:sp>
        <p:nvSpPr>
          <p:cNvPr id="4" name="Shape 2"/>
          <p:cNvSpPr/>
          <p:nvPr/>
        </p:nvSpPr>
        <p:spPr>
          <a:xfrm>
            <a:off x="548640" y="1572768"/>
            <a:ext cx="3611880" cy="914400"/>
          </a:xfrm>
          <a:prstGeom prst="roundRect">
            <a:avLst>
              <a:gd name="adj" fmla="val 7000"/>
            </a:avLst>
          </a:prstGeom>
          <a:solidFill>
            <a:srgbClr val="EAF1FA"/>
          </a:solidFill>
          <a:ln/>
        </p:spPr>
      </p:sp>
      <p:sp>
        <p:nvSpPr>
          <p:cNvPr id="5" name="Shape 3"/>
          <p:cNvSpPr/>
          <p:nvPr/>
        </p:nvSpPr>
        <p:spPr>
          <a:xfrm>
            <a:off x="731520" y="1847088"/>
            <a:ext cx="365760" cy="365760"/>
          </a:xfrm>
          <a:prstGeom prst="ellipse">
            <a:avLst/>
          </a:prstGeom>
          <a:solidFill>
            <a:srgbClr val="1791A6"/>
          </a:solidFill>
          <a:ln/>
        </p:spPr>
      </p:sp>
      <p:sp>
        <p:nvSpPr>
          <p:cNvPr id="6" name="Text 4"/>
          <p:cNvSpPr/>
          <p:nvPr/>
        </p:nvSpPr>
        <p:spPr>
          <a:xfrm>
            <a:off x="731520" y="1847088"/>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7" name="Text 5"/>
          <p:cNvSpPr/>
          <p:nvPr/>
        </p:nvSpPr>
        <p:spPr>
          <a:xfrm>
            <a:off x="1207008" y="1645920"/>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Backend web development with Laravel and PHP</a:t>
            </a:r>
            <a:endParaRPr lang="en-US" sz="1100" dirty="0"/>
          </a:p>
        </p:txBody>
      </p:sp>
      <p:sp>
        <p:nvSpPr>
          <p:cNvPr id="8" name="Shape 6"/>
          <p:cNvSpPr/>
          <p:nvPr/>
        </p:nvSpPr>
        <p:spPr>
          <a:xfrm>
            <a:off x="4343400" y="1572768"/>
            <a:ext cx="3611880" cy="914400"/>
          </a:xfrm>
          <a:prstGeom prst="roundRect">
            <a:avLst>
              <a:gd name="adj" fmla="val 7000"/>
            </a:avLst>
          </a:prstGeom>
          <a:solidFill>
            <a:srgbClr val="EAF1FA"/>
          </a:solidFill>
          <a:ln/>
        </p:spPr>
      </p:sp>
      <p:sp>
        <p:nvSpPr>
          <p:cNvPr id="9" name="Shape 7"/>
          <p:cNvSpPr/>
          <p:nvPr/>
        </p:nvSpPr>
        <p:spPr>
          <a:xfrm>
            <a:off x="4526280" y="1847088"/>
            <a:ext cx="365760" cy="365760"/>
          </a:xfrm>
          <a:prstGeom prst="ellipse">
            <a:avLst/>
          </a:prstGeom>
          <a:solidFill>
            <a:srgbClr val="1791A6"/>
          </a:solidFill>
          <a:ln/>
        </p:spPr>
      </p:sp>
      <p:sp>
        <p:nvSpPr>
          <p:cNvPr id="10" name="Text 8"/>
          <p:cNvSpPr/>
          <p:nvPr/>
        </p:nvSpPr>
        <p:spPr>
          <a:xfrm>
            <a:off x="4526280" y="1847088"/>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1" name="Text 9"/>
          <p:cNvSpPr/>
          <p:nvPr/>
        </p:nvSpPr>
        <p:spPr>
          <a:xfrm>
            <a:off x="5001768" y="1645920"/>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REST API design, development &amp; integration</a:t>
            </a:r>
            <a:endParaRPr lang="en-US" sz="1100" dirty="0"/>
          </a:p>
        </p:txBody>
      </p:sp>
      <p:sp>
        <p:nvSpPr>
          <p:cNvPr id="12" name="Shape 10"/>
          <p:cNvSpPr/>
          <p:nvPr/>
        </p:nvSpPr>
        <p:spPr>
          <a:xfrm>
            <a:off x="8138160" y="1572768"/>
            <a:ext cx="3611880" cy="914400"/>
          </a:xfrm>
          <a:prstGeom prst="roundRect">
            <a:avLst>
              <a:gd name="adj" fmla="val 7000"/>
            </a:avLst>
          </a:prstGeom>
          <a:solidFill>
            <a:srgbClr val="EAF1FA"/>
          </a:solidFill>
          <a:ln/>
        </p:spPr>
      </p:sp>
      <p:sp>
        <p:nvSpPr>
          <p:cNvPr id="13" name="Shape 11"/>
          <p:cNvSpPr/>
          <p:nvPr/>
        </p:nvSpPr>
        <p:spPr>
          <a:xfrm>
            <a:off x="8321040" y="1847088"/>
            <a:ext cx="365760" cy="365760"/>
          </a:xfrm>
          <a:prstGeom prst="ellipse">
            <a:avLst/>
          </a:prstGeom>
          <a:solidFill>
            <a:srgbClr val="1791A6"/>
          </a:solidFill>
          <a:ln/>
        </p:spPr>
      </p:sp>
      <p:sp>
        <p:nvSpPr>
          <p:cNvPr id="14" name="Text 12"/>
          <p:cNvSpPr/>
          <p:nvPr/>
        </p:nvSpPr>
        <p:spPr>
          <a:xfrm>
            <a:off x="8321040" y="1847088"/>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5" name="Text 13"/>
          <p:cNvSpPr/>
          <p:nvPr/>
        </p:nvSpPr>
        <p:spPr>
          <a:xfrm>
            <a:off x="8796528" y="1645920"/>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Authentication &amp; authorization (Laravel Sanctum)</a:t>
            </a:r>
            <a:endParaRPr lang="en-US" sz="1100" dirty="0"/>
          </a:p>
        </p:txBody>
      </p:sp>
      <p:sp>
        <p:nvSpPr>
          <p:cNvPr id="16" name="Shape 14"/>
          <p:cNvSpPr/>
          <p:nvPr/>
        </p:nvSpPr>
        <p:spPr>
          <a:xfrm>
            <a:off x="548640" y="2651760"/>
            <a:ext cx="3611880" cy="914400"/>
          </a:xfrm>
          <a:prstGeom prst="roundRect">
            <a:avLst>
              <a:gd name="adj" fmla="val 7000"/>
            </a:avLst>
          </a:prstGeom>
          <a:solidFill>
            <a:srgbClr val="EAF1FA"/>
          </a:solidFill>
          <a:ln/>
        </p:spPr>
      </p:sp>
      <p:sp>
        <p:nvSpPr>
          <p:cNvPr id="17" name="Shape 15"/>
          <p:cNvSpPr/>
          <p:nvPr/>
        </p:nvSpPr>
        <p:spPr>
          <a:xfrm>
            <a:off x="731520" y="2926080"/>
            <a:ext cx="365760" cy="365760"/>
          </a:xfrm>
          <a:prstGeom prst="ellipse">
            <a:avLst/>
          </a:prstGeom>
          <a:solidFill>
            <a:srgbClr val="1791A6"/>
          </a:solidFill>
          <a:ln/>
        </p:spPr>
      </p:sp>
      <p:sp>
        <p:nvSpPr>
          <p:cNvPr id="18" name="Text 16"/>
          <p:cNvSpPr/>
          <p:nvPr/>
        </p:nvSpPr>
        <p:spPr>
          <a:xfrm>
            <a:off x="731520" y="2926080"/>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19" name="Text 17"/>
          <p:cNvSpPr/>
          <p:nvPr/>
        </p:nvSpPr>
        <p:spPr>
          <a:xfrm>
            <a:off x="1207008" y="2724912"/>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Relational databases &amp; Eloquent ORM</a:t>
            </a:r>
            <a:endParaRPr lang="en-US" sz="1100" dirty="0"/>
          </a:p>
        </p:txBody>
      </p:sp>
      <p:sp>
        <p:nvSpPr>
          <p:cNvPr id="20" name="Shape 18"/>
          <p:cNvSpPr/>
          <p:nvPr/>
        </p:nvSpPr>
        <p:spPr>
          <a:xfrm>
            <a:off x="4343400" y="2651760"/>
            <a:ext cx="3611880" cy="914400"/>
          </a:xfrm>
          <a:prstGeom prst="roundRect">
            <a:avLst>
              <a:gd name="adj" fmla="val 7000"/>
            </a:avLst>
          </a:prstGeom>
          <a:solidFill>
            <a:srgbClr val="EAF1FA"/>
          </a:solidFill>
          <a:ln/>
        </p:spPr>
      </p:sp>
      <p:sp>
        <p:nvSpPr>
          <p:cNvPr id="21" name="Shape 19"/>
          <p:cNvSpPr/>
          <p:nvPr/>
        </p:nvSpPr>
        <p:spPr>
          <a:xfrm>
            <a:off x="4526280" y="2926080"/>
            <a:ext cx="365760" cy="365760"/>
          </a:xfrm>
          <a:prstGeom prst="ellipse">
            <a:avLst/>
          </a:prstGeom>
          <a:solidFill>
            <a:srgbClr val="1791A6"/>
          </a:solidFill>
          <a:ln/>
        </p:spPr>
      </p:sp>
      <p:sp>
        <p:nvSpPr>
          <p:cNvPr id="22" name="Text 20"/>
          <p:cNvSpPr/>
          <p:nvPr/>
        </p:nvSpPr>
        <p:spPr>
          <a:xfrm>
            <a:off x="4526280" y="2926080"/>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23" name="Text 21"/>
          <p:cNvSpPr/>
          <p:nvPr/>
        </p:nvSpPr>
        <p:spPr>
          <a:xfrm>
            <a:off x="5001768" y="2724912"/>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Frontend practices — Alpine.js, Tailwind CSS, Vite</a:t>
            </a:r>
            <a:endParaRPr lang="en-US" sz="1100" dirty="0"/>
          </a:p>
        </p:txBody>
      </p:sp>
      <p:sp>
        <p:nvSpPr>
          <p:cNvPr id="24" name="Shape 22"/>
          <p:cNvSpPr/>
          <p:nvPr/>
        </p:nvSpPr>
        <p:spPr>
          <a:xfrm>
            <a:off x="8138160" y="2651760"/>
            <a:ext cx="3611880" cy="914400"/>
          </a:xfrm>
          <a:prstGeom prst="roundRect">
            <a:avLst>
              <a:gd name="adj" fmla="val 7000"/>
            </a:avLst>
          </a:prstGeom>
          <a:solidFill>
            <a:srgbClr val="EAF1FA"/>
          </a:solidFill>
          <a:ln/>
        </p:spPr>
      </p:sp>
      <p:sp>
        <p:nvSpPr>
          <p:cNvPr id="25" name="Shape 23"/>
          <p:cNvSpPr/>
          <p:nvPr/>
        </p:nvSpPr>
        <p:spPr>
          <a:xfrm>
            <a:off x="8321040" y="2926080"/>
            <a:ext cx="365760" cy="365760"/>
          </a:xfrm>
          <a:prstGeom prst="ellipse">
            <a:avLst/>
          </a:prstGeom>
          <a:solidFill>
            <a:srgbClr val="1791A6"/>
          </a:solidFill>
          <a:ln/>
        </p:spPr>
      </p:sp>
      <p:sp>
        <p:nvSpPr>
          <p:cNvPr id="26" name="Text 24"/>
          <p:cNvSpPr/>
          <p:nvPr/>
        </p:nvSpPr>
        <p:spPr>
          <a:xfrm>
            <a:off x="8321040" y="2926080"/>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27" name="Text 25"/>
          <p:cNvSpPr/>
          <p:nvPr/>
        </p:nvSpPr>
        <p:spPr>
          <a:xfrm>
            <a:off x="8796528" y="2724912"/>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Real-time communication via WebSockets (Reverb)</a:t>
            </a:r>
            <a:endParaRPr lang="en-US" sz="1100" dirty="0"/>
          </a:p>
        </p:txBody>
      </p:sp>
      <p:sp>
        <p:nvSpPr>
          <p:cNvPr id="28" name="Shape 26"/>
          <p:cNvSpPr/>
          <p:nvPr/>
        </p:nvSpPr>
        <p:spPr>
          <a:xfrm>
            <a:off x="548640" y="3730752"/>
            <a:ext cx="3611880" cy="914400"/>
          </a:xfrm>
          <a:prstGeom prst="roundRect">
            <a:avLst>
              <a:gd name="adj" fmla="val 7000"/>
            </a:avLst>
          </a:prstGeom>
          <a:solidFill>
            <a:srgbClr val="EAF1FA"/>
          </a:solidFill>
          <a:ln/>
        </p:spPr>
      </p:sp>
      <p:sp>
        <p:nvSpPr>
          <p:cNvPr id="29" name="Shape 27"/>
          <p:cNvSpPr/>
          <p:nvPr/>
        </p:nvSpPr>
        <p:spPr>
          <a:xfrm>
            <a:off x="731520" y="4005072"/>
            <a:ext cx="365760" cy="365760"/>
          </a:xfrm>
          <a:prstGeom prst="ellipse">
            <a:avLst/>
          </a:prstGeom>
          <a:solidFill>
            <a:srgbClr val="1791A6"/>
          </a:solidFill>
          <a:ln/>
        </p:spPr>
      </p:sp>
      <p:sp>
        <p:nvSpPr>
          <p:cNvPr id="30" name="Text 28"/>
          <p:cNvSpPr/>
          <p:nvPr/>
        </p:nvSpPr>
        <p:spPr>
          <a:xfrm>
            <a:off x="731520" y="4005072"/>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31" name="Text 29"/>
          <p:cNvSpPr/>
          <p:nvPr/>
        </p:nvSpPr>
        <p:spPr>
          <a:xfrm>
            <a:off x="1207008" y="3803904"/>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Cloud telephony concepts — webhooks &amp; CDR processing</a:t>
            </a:r>
            <a:endParaRPr lang="en-US" sz="1100" dirty="0"/>
          </a:p>
        </p:txBody>
      </p:sp>
      <p:sp>
        <p:nvSpPr>
          <p:cNvPr id="32" name="Shape 30"/>
          <p:cNvSpPr/>
          <p:nvPr/>
        </p:nvSpPr>
        <p:spPr>
          <a:xfrm>
            <a:off x="4343400" y="3730752"/>
            <a:ext cx="3611880" cy="914400"/>
          </a:xfrm>
          <a:prstGeom prst="roundRect">
            <a:avLst>
              <a:gd name="adj" fmla="val 7000"/>
            </a:avLst>
          </a:prstGeom>
          <a:solidFill>
            <a:srgbClr val="EAF1FA"/>
          </a:solidFill>
          <a:ln/>
        </p:spPr>
      </p:sp>
      <p:sp>
        <p:nvSpPr>
          <p:cNvPr id="33" name="Shape 31"/>
          <p:cNvSpPr/>
          <p:nvPr/>
        </p:nvSpPr>
        <p:spPr>
          <a:xfrm>
            <a:off x="4526280" y="4005072"/>
            <a:ext cx="365760" cy="365760"/>
          </a:xfrm>
          <a:prstGeom prst="ellipse">
            <a:avLst/>
          </a:prstGeom>
          <a:solidFill>
            <a:srgbClr val="1791A6"/>
          </a:solidFill>
          <a:ln/>
        </p:spPr>
      </p:sp>
      <p:sp>
        <p:nvSpPr>
          <p:cNvPr id="34" name="Text 32"/>
          <p:cNvSpPr/>
          <p:nvPr/>
        </p:nvSpPr>
        <p:spPr>
          <a:xfrm>
            <a:off x="4526280" y="4005072"/>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35" name="Text 33"/>
          <p:cNvSpPr/>
          <p:nvPr/>
        </p:nvSpPr>
        <p:spPr>
          <a:xfrm>
            <a:off x="5001768" y="3803904"/>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Mobile API integration patterns</a:t>
            </a:r>
            <a:endParaRPr lang="en-US" sz="1100" dirty="0"/>
          </a:p>
        </p:txBody>
      </p:sp>
      <p:sp>
        <p:nvSpPr>
          <p:cNvPr id="36" name="Shape 34"/>
          <p:cNvSpPr/>
          <p:nvPr/>
        </p:nvSpPr>
        <p:spPr>
          <a:xfrm>
            <a:off x="8138160" y="3730752"/>
            <a:ext cx="3611880" cy="914400"/>
          </a:xfrm>
          <a:prstGeom prst="roundRect">
            <a:avLst>
              <a:gd name="adj" fmla="val 7000"/>
            </a:avLst>
          </a:prstGeom>
          <a:solidFill>
            <a:srgbClr val="EAF1FA"/>
          </a:solidFill>
          <a:ln/>
        </p:spPr>
      </p:sp>
      <p:sp>
        <p:nvSpPr>
          <p:cNvPr id="37" name="Shape 35"/>
          <p:cNvSpPr/>
          <p:nvPr/>
        </p:nvSpPr>
        <p:spPr>
          <a:xfrm>
            <a:off x="8321040" y="4005072"/>
            <a:ext cx="365760" cy="365760"/>
          </a:xfrm>
          <a:prstGeom prst="ellipse">
            <a:avLst/>
          </a:prstGeom>
          <a:solidFill>
            <a:srgbClr val="1791A6"/>
          </a:solidFill>
          <a:ln/>
        </p:spPr>
      </p:sp>
      <p:sp>
        <p:nvSpPr>
          <p:cNvPr id="38" name="Text 36"/>
          <p:cNvSpPr/>
          <p:nvPr/>
        </p:nvSpPr>
        <p:spPr>
          <a:xfrm>
            <a:off x="8321040" y="4005072"/>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39" name="Text 37"/>
          <p:cNvSpPr/>
          <p:nvPr/>
        </p:nvSpPr>
        <p:spPr>
          <a:xfrm>
            <a:off x="8796528" y="3803904"/>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Geolocation &amp; geofencing concepts</a:t>
            </a:r>
            <a:endParaRPr lang="en-US" sz="1100" dirty="0"/>
          </a:p>
        </p:txBody>
      </p:sp>
      <p:sp>
        <p:nvSpPr>
          <p:cNvPr id="40" name="Shape 38"/>
          <p:cNvSpPr/>
          <p:nvPr/>
        </p:nvSpPr>
        <p:spPr>
          <a:xfrm>
            <a:off x="548640" y="4809744"/>
            <a:ext cx="3611880" cy="914400"/>
          </a:xfrm>
          <a:prstGeom prst="roundRect">
            <a:avLst>
              <a:gd name="adj" fmla="val 7000"/>
            </a:avLst>
          </a:prstGeom>
          <a:solidFill>
            <a:srgbClr val="EAF1FA"/>
          </a:solidFill>
          <a:ln/>
        </p:spPr>
      </p:sp>
      <p:sp>
        <p:nvSpPr>
          <p:cNvPr id="41" name="Shape 39"/>
          <p:cNvSpPr/>
          <p:nvPr/>
        </p:nvSpPr>
        <p:spPr>
          <a:xfrm>
            <a:off x="731520" y="5084064"/>
            <a:ext cx="365760" cy="365760"/>
          </a:xfrm>
          <a:prstGeom prst="ellipse">
            <a:avLst/>
          </a:prstGeom>
          <a:solidFill>
            <a:srgbClr val="1791A6"/>
          </a:solidFill>
          <a:ln/>
        </p:spPr>
      </p:sp>
      <p:sp>
        <p:nvSpPr>
          <p:cNvPr id="42" name="Text 40"/>
          <p:cNvSpPr/>
          <p:nvPr/>
        </p:nvSpPr>
        <p:spPr>
          <a:xfrm>
            <a:off x="731520" y="5084064"/>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43" name="Text 41"/>
          <p:cNvSpPr/>
          <p:nvPr/>
        </p:nvSpPr>
        <p:spPr>
          <a:xfrm>
            <a:off x="1207008" y="4882896"/>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Debugging &amp; testing in a large modular codebase</a:t>
            </a:r>
            <a:endParaRPr lang="en-US" sz="1100" dirty="0"/>
          </a:p>
        </p:txBody>
      </p:sp>
      <p:sp>
        <p:nvSpPr>
          <p:cNvPr id="44" name="Shape 42"/>
          <p:cNvSpPr/>
          <p:nvPr/>
        </p:nvSpPr>
        <p:spPr>
          <a:xfrm>
            <a:off x="4343400" y="4809744"/>
            <a:ext cx="3611880" cy="914400"/>
          </a:xfrm>
          <a:prstGeom prst="roundRect">
            <a:avLst>
              <a:gd name="adj" fmla="val 7000"/>
            </a:avLst>
          </a:prstGeom>
          <a:solidFill>
            <a:srgbClr val="EAF1FA"/>
          </a:solidFill>
          <a:ln/>
        </p:spPr>
      </p:sp>
      <p:sp>
        <p:nvSpPr>
          <p:cNvPr id="45" name="Shape 43"/>
          <p:cNvSpPr/>
          <p:nvPr/>
        </p:nvSpPr>
        <p:spPr>
          <a:xfrm>
            <a:off x="4526280" y="5084064"/>
            <a:ext cx="365760" cy="365760"/>
          </a:xfrm>
          <a:prstGeom prst="ellipse">
            <a:avLst/>
          </a:prstGeom>
          <a:solidFill>
            <a:srgbClr val="1791A6"/>
          </a:solidFill>
          <a:ln/>
        </p:spPr>
      </p:sp>
      <p:sp>
        <p:nvSpPr>
          <p:cNvPr id="46" name="Text 44"/>
          <p:cNvSpPr/>
          <p:nvPr/>
        </p:nvSpPr>
        <p:spPr>
          <a:xfrm>
            <a:off x="4526280" y="5084064"/>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47" name="Text 45"/>
          <p:cNvSpPr/>
          <p:nvPr/>
        </p:nvSpPr>
        <p:spPr>
          <a:xfrm>
            <a:off x="5001768" y="4882896"/>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Modular code organization &amp; version control</a:t>
            </a:r>
            <a:endParaRPr lang="en-US" sz="1100" dirty="0"/>
          </a:p>
        </p:txBody>
      </p:sp>
      <p:sp>
        <p:nvSpPr>
          <p:cNvPr id="48" name="Shape 46"/>
          <p:cNvSpPr/>
          <p:nvPr/>
        </p:nvSpPr>
        <p:spPr>
          <a:xfrm>
            <a:off x="8138160" y="4809744"/>
            <a:ext cx="3611880" cy="914400"/>
          </a:xfrm>
          <a:prstGeom prst="roundRect">
            <a:avLst>
              <a:gd name="adj" fmla="val 7000"/>
            </a:avLst>
          </a:prstGeom>
          <a:solidFill>
            <a:srgbClr val="EAF1FA"/>
          </a:solidFill>
          <a:ln/>
        </p:spPr>
      </p:sp>
      <p:sp>
        <p:nvSpPr>
          <p:cNvPr id="49" name="Shape 47"/>
          <p:cNvSpPr/>
          <p:nvPr/>
        </p:nvSpPr>
        <p:spPr>
          <a:xfrm>
            <a:off x="8321040" y="5084064"/>
            <a:ext cx="365760" cy="365760"/>
          </a:xfrm>
          <a:prstGeom prst="ellipse">
            <a:avLst/>
          </a:prstGeom>
          <a:solidFill>
            <a:srgbClr val="1791A6"/>
          </a:solidFill>
          <a:ln/>
        </p:spPr>
      </p:sp>
      <p:sp>
        <p:nvSpPr>
          <p:cNvPr id="50" name="Text 48"/>
          <p:cNvSpPr/>
          <p:nvPr/>
        </p:nvSpPr>
        <p:spPr>
          <a:xfrm>
            <a:off x="8321040" y="5084064"/>
            <a:ext cx="365760" cy="365760"/>
          </a:xfrm>
          <a:prstGeom prst="rect">
            <a:avLst/>
          </a:prstGeom>
          <a:noFill/>
          <a:ln/>
        </p:spPr>
        <p:txBody>
          <a:bodyPr wrap="square" lIns="0" tIns="0" rIns="0" bIns="0" rtlCol="0" anchor="ctr"/>
          <a:lstStyle/>
          <a:p>
            <a:pPr algn="ctr" indent="0" marL="0">
              <a:buNone/>
            </a:pPr>
            <a:r>
              <a:rPr lang="en-US" sz="1040" b="1" dirty="0">
                <a:solidFill>
                  <a:srgbClr val="FFFFFF"/>
                </a:solidFill>
                <a:latin typeface="Calibri" pitchFamily="34" charset="0"/>
                <a:ea typeface="Calibri" pitchFamily="34" charset="-122"/>
                <a:cs typeface="Calibri" pitchFamily="34" charset="-120"/>
              </a:rPr>
              <a:t>✓</a:t>
            </a:r>
            <a:endParaRPr lang="en-US" sz="1040" dirty="0"/>
          </a:p>
        </p:txBody>
      </p:sp>
      <p:sp>
        <p:nvSpPr>
          <p:cNvPr id="51" name="Text 49"/>
          <p:cNvSpPr/>
          <p:nvPr/>
        </p:nvSpPr>
        <p:spPr>
          <a:xfrm>
            <a:off x="8796528" y="4882896"/>
            <a:ext cx="2788920" cy="768096"/>
          </a:xfrm>
          <a:prstGeom prst="rect">
            <a:avLst/>
          </a:prstGeom>
          <a:noFill/>
          <a:ln/>
        </p:spPr>
        <p:txBody>
          <a:bodyPr wrap="square" lIns="0" tIns="0" rIns="0" bIns="0" rtlCol="0" anchor="ctr"/>
          <a:lstStyle/>
          <a:p>
            <a:pPr indent="0" marL="0">
              <a:lnSpc>
                <a:spcPct val="110000"/>
              </a:lnSpc>
              <a:buNone/>
            </a:pPr>
            <a:r>
              <a:rPr lang="en-US" sz="1100" b="1" dirty="0">
                <a:solidFill>
                  <a:srgbClr val="12294D"/>
                </a:solidFill>
                <a:latin typeface="Calibri" pitchFamily="34" charset="0"/>
                <a:ea typeface="Calibri" pitchFamily="34" charset="-122"/>
                <a:cs typeface="Calibri" pitchFamily="34" charset="-120"/>
              </a:rPr>
              <a:t>Problem-solving on real, production-oriented software</a:t>
            </a:r>
            <a:endParaRPr lang="en-US" sz="1100" dirty="0"/>
          </a:p>
        </p:txBody>
      </p:sp>
      <p:sp>
        <p:nvSpPr>
          <p:cNvPr id="52" name="Text 50"/>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53" name="Text 51"/>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4415" cy="566928"/>
          </a:xfrm>
          <a:prstGeom prst="rect">
            <a:avLst/>
          </a:prstGeom>
          <a:noFill/>
          <a:ln/>
        </p:spPr>
        <p:txBody>
          <a:bodyPr wrap="square" lIns="0" tIns="0" rIns="0" bIns="0" rtlCol="0" anchor="ctr"/>
          <a:lstStyle/>
          <a:p>
            <a:pPr algn="l" indent="0" marL="0">
              <a:buNone/>
            </a:pPr>
            <a:r>
              <a:rPr lang="en-US" sz="3000" b="1" dirty="0">
                <a:solidFill>
                  <a:srgbClr val="12294D"/>
                </a:solidFill>
                <a:latin typeface="Cambria" pitchFamily="34" charset="0"/>
                <a:ea typeface="Cambria" pitchFamily="34" charset="-122"/>
                <a:cs typeface="Cambria" pitchFamily="34" charset="-120"/>
              </a:rPr>
              <a:t>Conclusion</a:t>
            </a:r>
            <a:endParaRPr lang="en-US" sz="3000" dirty="0"/>
          </a:p>
        </p:txBody>
      </p:sp>
      <p:sp>
        <p:nvSpPr>
          <p:cNvPr id="3" name="Text 1"/>
          <p:cNvSpPr/>
          <p:nvPr/>
        </p:nvSpPr>
        <p:spPr>
          <a:xfrm>
            <a:off x="548640" y="932688"/>
            <a:ext cx="11094415" cy="310896"/>
          </a:xfrm>
          <a:prstGeom prst="rect">
            <a:avLst/>
          </a:prstGeom>
          <a:noFill/>
          <a:ln/>
        </p:spPr>
        <p:txBody>
          <a:bodyPr wrap="square" lIns="0" tIns="0" rIns="0" bIns="0" rtlCol="0" anchor="ctr"/>
          <a:lstStyle/>
          <a:p>
            <a:pPr algn="l" indent="0" marL="0">
              <a:buNone/>
            </a:pPr>
            <a:r>
              <a:rPr lang="en-US" sz="1350" i="1" dirty="0">
                <a:solidFill>
                  <a:srgbClr val="1791A6"/>
                </a:solidFill>
                <a:latin typeface="Calibri" pitchFamily="34" charset="0"/>
                <a:ea typeface="Calibri" pitchFamily="34" charset="-122"/>
                <a:cs typeface="Calibri" pitchFamily="34" charset="-120"/>
              </a:rPr>
              <a:t>Reflecting on the internship experience</a:t>
            </a:r>
            <a:endParaRPr lang="en-US" sz="1350" dirty="0"/>
          </a:p>
        </p:txBody>
      </p:sp>
      <p:sp>
        <p:nvSpPr>
          <p:cNvPr id="4" name="Shape 2"/>
          <p:cNvSpPr/>
          <p:nvPr/>
        </p:nvSpPr>
        <p:spPr>
          <a:xfrm>
            <a:off x="548640" y="1600200"/>
            <a:ext cx="11064240" cy="4206240"/>
          </a:xfrm>
          <a:prstGeom prst="roundRect">
            <a:avLst>
              <a:gd name="adj" fmla="val 2174"/>
            </a:avLst>
          </a:prstGeom>
          <a:solidFill>
            <a:srgbClr val="EAF1FA"/>
          </a:solidFill>
          <a:ln/>
        </p:spPr>
      </p:sp>
      <p:sp>
        <p:nvSpPr>
          <p:cNvPr id="5" name="Text 3"/>
          <p:cNvSpPr/>
          <p:nvPr/>
        </p:nvSpPr>
        <p:spPr>
          <a:xfrm>
            <a:off x="1143000" y="1965960"/>
            <a:ext cx="10149840" cy="3657600"/>
          </a:xfrm>
          <a:prstGeom prst="rect">
            <a:avLst/>
          </a:prstGeom>
          <a:noFill/>
          <a:ln/>
        </p:spPr>
        <p:txBody>
          <a:bodyPr wrap="square" lIns="0" tIns="0" rIns="0" bIns="0" rtlCol="0" anchor="ctr"/>
          <a:lstStyle/>
          <a:p>
            <a:pPr indent="0" marL="0">
              <a:lnSpc>
                <a:spcPct val="140000"/>
              </a:lnSpc>
              <a:buNone/>
            </a:pPr>
            <a:r>
              <a:rPr lang="en-US" sz="1450" dirty="0">
                <a:solidFill>
                  <a:srgbClr val="12294D"/>
                </a:solidFill>
                <a:latin typeface="Calibri" pitchFamily="34" charset="0"/>
                <a:ea typeface="Calibri" pitchFamily="34" charset="-122"/>
                <a:cs typeface="Calibri" pitchFamily="34" charset="-120"/>
              </a:rPr>
              <a:t>The internship provided practical exposure to enterprise-grade software development practices, well beyond what is typically covered in a classroom setting. Working on LeadOne 2.0 — a modular platform spanning lead management, cloud telephony, mobile integration, geofenced attendance, helpdesk/SLA management, agent performance, and automation — gave real, production-oriented experience with the Laravel ecosystem, REST APIs, real-time systems, and enterprise software architecture.</a:t>
            </a:r>
            <a:endParaRPr lang="en-US" sz="1450" dirty="0"/>
          </a:p>
          <a:p>
            <a:pPr indent="0" marL="0">
              <a:lnSpc>
                <a:spcPct val="140000"/>
              </a:lnSpc>
              <a:buNone/>
            </a:pPr>
            <a:endParaRPr lang="en-US" sz="1450" dirty="0"/>
          </a:p>
          <a:p>
            <a:pPr indent="0" marL="0">
              <a:lnSpc>
                <a:spcPct val="140000"/>
              </a:lnSpc>
              <a:buNone/>
            </a:pPr>
            <a:r>
              <a:rPr lang="en-US" sz="1450" dirty="0">
                <a:solidFill>
                  <a:srgbClr val="12294D"/>
                </a:solidFill>
                <a:latin typeface="Calibri" pitchFamily="34" charset="0"/>
                <a:ea typeface="Calibri" pitchFamily="34" charset="-122"/>
                <a:cs typeface="Calibri" pitchFamily="34" charset="-120"/>
              </a:rPr>
              <a:t>These outcomes are described as practical exposure and skills gained, reflecting the learning that reasonably follows from the internship duration and the nature of the platform, rather than as claims of mastery.</a:t>
            </a:r>
            <a:endParaRPr lang="en-US" sz="1450" dirty="0"/>
          </a:p>
        </p:txBody>
      </p:sp>
      <p:sp>
        <p:nvSpPr>
          <p:cNvPr id="6" name="Text 4"/>
          <p:cNvSpPr/>
          <p:nvPr/>
        </p:nvSpPr>
        <p:spPr>
          <a:xfrm>
            <a:off x="457200" y="6473952"/>
            <a:ext cx="6400800" cy="274320"/>
          </a:xfrm>
          <a:prstGeom prst="rect">
            <a:avLst/>
          </a:prstGeom>
          <a:noFill/>
          <a:ln/>
        </p:spPr>
        <p:txBody>
          <a:bodyPr wrap="square" rtlCol="0" anchor="ctr"/>
          <a:lstStyle/>
          <a:p>
            <a:pPr algn="l" indent="0" marL="0">
              <a:buNone/>
            </a:pPr>
            <a:r>
              <a:rPr lang="en-US" sz="1000" dirty="0">
                <a:solidFill>
                  <a:srgbClr val="9AA7B4"/>
                </a:solidFill>
                <a:latin typeface="Calibri" pitchFamily="34" charset="0"/>
                <a:ea typeface="Calibri" pitchFamily="34" charset="-122"/>
                <a:cs typeface="Calibri" pitchFamily="34" charset="-120"/>
              </a:rPr>
              <a:t>IILM University | LeadOne 2.0 Internship Report</a:t>
            </a:r>
            <a:endParaRPr lang="en-US" sz="1000" dirty="0"/>
          </a:p>
        </p:txBody>
      </p:sp>
      <p:sp>
        <p:nvSpPr>
          <p:cNvPr id="7" name="Text 5"/>
          <p:cNvSpPr/>
          <p:nvPr/>
        </p:nvSpPr>
        <p:spPr>
          <a:xfrm>
            <a:off x="11277295" y="6473952"/>
            <a:ext cx="457200" cy="274320"/>
          </a:xfrm>
          <a:prstGeom prst="rect">
            <a:avLst/>
          </a:prstGeom>
          <a:noFill/>
          <a:ln/>
        </p:spPr>
        <p:txBody>
          <a:bodyPr wrap="square" rtlCol="0" anchor="ctr"/>
          <a:lstStyle/>
          <a:p>
            <a:pPr algn="r" indent="0" marL="0">
              <a:buNone/>
            </a:pPr>
            <a:r>
              <a:rPr lang="en-US" sz="1000" dirty="0">
                <a:solidFill>
                  <a:srgbClr val="9AA7B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3A6B"/>
        </a:solidFill>
      </p:bgPr>
    </p:bg>
    <p:spTree>
      <p:nvGrpSpPr>
        <p:cNvPr id="1" name=""/>
        <p:cNvGrpSpPr/>
        <p:nvPr/>
      </p:nvGrpSpPr>
      <p:grpSpPr>
        <a:xfrm>
          <a:off x="0" y="0"/>
          <a:ext cx="0" cy="0"/>
          <a:chOff x="0" y="0"/>
          <a:chExt cx="0" cy="0"/>
        </a:xfrm>
      </p:grpSpPr>
      <p:sp>
        <p:nvSpPr>
          <p:cNvPr id="2" name="Text 0"/>
          <p:cNvSpPr/>
          <p:nvPr/>
        </p:nvSpPr>
        <p:spPr>
          <a:xfrm>
            <a:off x="822960" y="1280160"/>
            <a:ext cx="731520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p:nvPr/>
        </p:nvSpPr>
        <p:spPr>
          <a:xfrm>
            <a:off x="822960" y="2148840"/>
            <a:ext cx="7315200" cy="457200"/>
          </a:xfrm>
          <a:prstGeom prst="rect">
            <a:avLst/>
          </a:prstGeom>
          <a:noFill/>
          <a:ln/>
        </p:spPr>
        <p:txBody>
          <a:bodyPr wrap="square" lIns="0" tIns="0" rIns="0" bIns="0" rtlCol="0" anchor="ctr"/>
          <a:lstStyle/>
          <a:p>
            <a:pPr indent="0" marL="0">
              <a:buNone/>
            </a:pPr>
            <a:r>
              <a:rPr lang="en-US" sz="1600" i="1" dirty="0">
                <a:solidFill>
                  <a:srgbClr val="9FC1E8"/>
                </a:solidFill>
                <a:latin typeface="Calibri" pitchFamily="34" charset="0"/>
                <a:ea typeface="Calibri" pitchFamily="34" charset="-122"/>
                <a:cs typeface="Calibri" pitchFamily="34" charset="-120"/>
              </a:rPr>
              <a:t>Questions &amp; Discussion</a:t>
            </a:r>
            <a:endParaRPr lang="en-US" sz="1600" dirty="0"/>
          </a:p>
        </p:txBody>
      </p:sp>
      <p:sp>
        <p:nvSpPr>
          <p:cNvPr id="4" name="Shape 2"/>
          <p:cNvSpPr/>
          <p:nvPr/>
        </p:nvSpPr>
        <p:spPr>
          <a:xfrm>
            <a:off x="841248" y="2788920"/>
            <a:ext cx="2926080" cy="0"/>
          </a:xfrm>
          <a:prstGeom prst="line">
            <a:avLst/>
          </a:prstGeom>
          <a:noFill/>
          <a:ln w="25400">
            <a:solidFill>
              <a:srgbClr val="1791A6"/>
            </a:solidFill>
            <a:prstDash val="solid"/>
          </a:ln>
        </p:spPr>
      </p:sp>
      <p:sp>
        <p:nvSpPr>
          <p:cNvPr id="5" name="Text 3"/>
          <p:cNvSpPr/>
          <p:nvPr/>
        </p:nvSpPr>
        <p:spPr>
          <a:xfrm>
            <a:off x="822960" y="3063240"/>
            <a:ext cx="5486400" cy="320040"/>
          </a:xfrm>
          <a:prstGeom prst="rect">
            <a:avLst/>
          </a:prstGeom>
          <a:noFill/>
          <a:ln/>
        </p:spPr>
        <p:txBody>
          <a:bodyPr wrap="square" lIns="0" tIns="0" rIns="0" bIns="0" rtlCol="0" anchor="ctr"/>
          <a:lstStyle/>
          <a:p>
            <a:pPr indent="0" marL="0">
              <a:buNone/>
            </a:pPr>
            <a:r>
              <a:rPr lang="en-US" sz="1200" b="1" spc="150" kern="0" dirty="0">
                <a:solidFill>
                  <a:srgbClr val="7FA8D6"/>
                </a:solidFill>
                <a:latin typeface="Calibri" pitchFamily="34" charset="0"/>
                <a:ea typeface="Calibri" pitchFamily="34" charset="-122"/>
                <a:cs typeface="Calibri" pitchFamily="34" charset="-120"/>
              </a:rPr>
              <a:t>REFERENCES</a:t>
            </a:r>
            <a:endParaRPr lang="en-US" sz="1200" dirty="0"/>
          </a:p>
        </p:txBody>
      </p:sp>
      <p:sp>
        <p:nvSpPr>
          <p:cNvPr id="6" name="Text 4"/>
          <p:cNvSpPr/>
          <p:nvPr/>
        </p:nvSpPr>
        <p:spPr>
          <a:xfrm>
            <a:off x="822960" y="3429000"/>
            <a:ext cx="6583680" cy="320040"/>
          </a:xfrm>
          <a:prstGeom prst="rect">
            <a:avLst/>
          </a:prstGeom>
          <a:noFill/>
          <a:ln/>
        </p:spPr>
        <p:txBody>
          <a:bodyPr wrap="square" lIns="0" tIns="0" rIns="0" bIns="0" rtlCol="0" anchor="ctr"/>
          <a:lstStyle/>
          <a:p>
            <a:pPr indent="0" marL="0">
              <a:buNone/>
            </a:pPr>
            <a:r>
              <a:rPr lang="en-US" sz="1150" dirty="0">
                <a:solidFill>
                  <a:srgbClr val="D6E4F0"/>
                </a:solidFill>
                <a:latin typeface="Calibri" pitchFamily="34" charset="0"/>
                <a:ea typeface="Calibri" pitchFamily="34" charset="-122"/>
                <a:cs typeface="Calibri" pitchFamily="34" charset="-120"/>
              </a:rPr>
              <a:t>•  Laravel Documentation — laravel.com/docs</a:t>
            </a:r>
            <a:endParaRPr lang="en-US" sz="1150" dirty="0"/>
          </a:p>
        </p:txBody>
      </p:sp>
      <p:sp>
        <p:nvSpPr>
          <p:cNvPr id="7" name="Text 5"/>
          <p:cNvSpPr/>
          <p:nvPr/>
        </p:nvSpPr>
        <p:spPr>
          <a:xfrm>
            <a:off x="822960" y="3767328"/>
            <a:ext cx="6583680" cy="320040"/>
          </a:xfrm>
          <a:prstGeom prst="rect">
            <a:avLst/>
          </a:prstGeom>
          <a:noFill/>
          <a:ln/>
        </p:spPr>
        <p:txBody>
          <a:bodyPr wrap="square" lIns="0" tIns="0" rIns="0" bIns="0" rtlCol="0" anchor="ctr"/>
          <a:lstStyle/>
          <a:p>
            <a:pPr indent="0" marL="0">
              <a:buNone/>
            </a:pPr>
            <a:r>
              <a:rPr lang="en-US" sz="1150" dirty="0">
                <a:solidFill>
                  <a:srgbClr val="D6E4F0"/>
                </a:solidFill>
                <a:latin typeface="Calibri" pitchFamily="34" charset="0"/>
                <a:ea typeface="Calibri" pitchFamily="34" charset="-122"/>
                <a:cs typeface="Calibri" pitchFamily="34" charset="-120"/>
              </a:rPr>
              <a:t>•  Laravel Sanctum &amp; Reverb Documentation</a:t>
            </a:r>
            <a:endParaRPr lang="en-US" sz="1150" dirty="0"/>
          </a:p>
        </p:txBody>
      </p:sp>
      <p:sp>
        <p:nvSpPr>
          <p:cNvPr id="8" name="Text 6"/>
          <p:cNvSpPr/>
          <p:nvPr/>
        </p:nvSpPr>
        <p:spPr>
          <a:xfrm>
            <a:off x="822960" y="4105656"/>
            <a:ext cx="6583680" cy="320040"/>
          </a:xfrm>
          <a:prstGeom prst="rect">
            <a:avLst/>
          </a:prstGeom>
          <a:noFill/>
          <a:ln/>
        </p:spPr>
        <p:txBody>
          <a:bodyPr wrap="square" lIns="0" tIns="0" rIns="0" bIns="0" rtlCol="0" anchor="ctr"/>
          <a:lstStyle/>
          <a:p>
            <a:pPr indent="0" marL="0">
              <a:buNone/>
            </a:pPr>
            <a:r>
              <a:rPr lang="en-US" sz="1150" dirty="0">
                <a:solidFill>
                  <a:srgbClr val="D6E4F0"/>
                </a:solidFill>
                <a:latin typeface="Calibri" pitchFamily="34" charset="0"/>
                <a:ea typeface="Calibri" pitchFamily="34" charset="-122"/>
                <a:cs typeface="Calibri" pitchFamily="34" charset="-120"/>
              </a:rPr>
              <a:t>•  Alpine.js Documentation — alpinejs.dev</a:t>
            </a:r>
            <a:endParaRPr lang="en-US" sz="1150" dirty="0"/>
          </a:p>
        </p:txBody>
      </p:sp>
      <p:sp>
        <p:nvSpPr>
          <p:cNvPr id="9" name="Text 7"/>
          <p:cNvSpPr/>
          <p:nvPr/>
        </p:nvSpPr>
        <p:spPr>
          <a:xfrm>
            <a:off x="822960" y="4443984"/>
            <a:ext cx="6583680" cy="320040"/>
          </a:xfrm>
          <a:prstGeom prst="rect">
            <a:avLst/>
          </a:prstGeom>
          <a:noFill/>
          <a:ln/>
        </p:spPr>
        <p:txBody>
          <a:bodyPr wrap="square" lIns="0" tIns="0" rIns="0" bIns="0" rtlCol="0" anchor="ctr"/>
          <a:lstStyle/>
          <a:p>
            <a:pPr indent="0" marL="0">
              <a:buNone/>
            </a:pPr>
            <a:r>
              <a:rPr lang="en-US" sz="1150" dirty="0">
                <a:solidFill>
                  <a:srgbClr val="D6E4F0"/>
                </a:solidFill>
                <a:latin typeface="Calibri" pitchFamily="34" charset="0"/>
                <a:ea typeface="Calibri" pitchFamily="34" charset="-122"/>
                <a:cs typeface="Calibri" pitchFamily="34" charset="-120"/>
              </a:rPr>
              <a:t>•  Tailwind CSS Documentation — tailwindcss.com/docs</a:t>
            </a:r>
            <a:endParaRPr lang="en-US" sz="1150" dirty="0"/>
          </a:p>
        </p:txBody>
      </p:sp>
      <p:sp>
        <p:nvSpPr>
          <p:cNvPr id="10" name="Text 8"/>
          <p:cNvSpPr/>
          <p:nvPr/>
        </p:nvSpPr>
        <p:spPr>
          <a:xfrm>
            <a:off x="822960" y="4782312"/>
            <a:ext cx="6583680" cy="320040"/>
          </a:xfrm>
          <a:prstGeom prst="rect">
            <a:avLst/>
          </a:prstGeom>
          <a:noFill/>
          <a:ln/>
        </p:spPr>
        <p:txBody>
          <a:bodyPr wrap="square" lIns="0" tIns="0" rIns="0" bIns="0" rtlCol="0" anchor="ctr"/>
          <a:lstStyle/>
          <a:p>
            <a:pPr indent="0" marL="0">
              <a:buNone/>
            </a:pPr>
            <a:r>
              <a:rPr lang="en-US" sz="1150" dirty="0">
                <a:solidFill>
                  <a:srgbClr val="D6E4F0"/>
                </a:solidFill>
                <a:latin typeface="Calibri" pitchFamily="34" charset="0"/>
                <a:ea typeface="Calibri" pitchFamily="34" charset="-122"/>
                <a:cs typeface="Calibri" pitchFamily="34" charset="-120"/>
              </a:rPr>
              <a:t>•  LeadOne 2.0 — Project README (internal documentation)</a:t>
            </a:r>
            <a:endParaRPr lang="en-US" sz="1150" dirty="0"/>
          </a:p>
        </p:txBody>
      </p:sp>
      <p:sp>
        <p:nvSpPr>
          <p:cNvPr id="11" name="Text 9"/>
          <p:cNvSpPr/>
          <p:nvPr/>
        </p:nvSpPr>
        <p:spPr>
          <a:xfrm>
            <a:off x="822960" y="5120640"/>
            <a:ext cx="6583680" cy="320040"/>
          </a:xfrm>
          <a:prstGeom prst="rect">
            <a:avLst/>
          </a:prstGeom>
          <a:noFill/>
          <a:ln/>
        </p:spPr>
        <p:txBody>
          <a:bodyPr wrap="square" lIns="0" tIns="0" rIns="0" bIns="0" rtlCol="0" anchor="ctr"/>
          <a:lstStyle/>
          <a:p>
            <a:pPr indent="0" marL="0">
              <a:buNone/>
            </a:pPr>
            <a:r>
              <a:rPr lang="en-US" sz="1150" dirty="0">
                <a:solidFill>
                  <a:srgbClr val="D6E4F0"/>
                </a:solidFill>
                <a:latin typeface="Calibri" pitchFamily="34" charset="0"/>
                <a:ea typeface="Calibri" pitchFamily="34" charset="-122"/>
                <a:cs typeface="Calibri" pitchFamily="34" charset="-120"/>
              </a:rPr>
              <a:t>•  Internship Completion Certificate, FinZ (30-Aug-2026)</a:t>
            </a:r>
            <a:endParaRPr lang="en-US" sz="1150" dirty="0"/>
          </a:p>
        </p:txBody>
      </p:sp>
      <p:sp>
        <p:nvSpPr>
          <p:cNvPr id="12" name="Text 10"/>
          <p:cNvSpPr/>
          <p:nvPr/>
        </p:nvSpPr>
        <p:spPr>
          <a:xfrm>
            <a:off x="7863840" y="5074920"/>
            <a:ext cx="3657600" cy="384048"/>
          </a:xfrm>
          <a:prstGeom prst="rect">
            <a:avLst/>
          </a:prstGeom>
          <a:noFill/>
          <a:ln/>
        </p:spPr>
        <p:txBody>
          <a:bodyPr wrap="square" lIns="0" tIns="0" rIns="0" bIns="0" rtlCol="0" anchor="ctr"/>
          <a:lstStyle/>
          <a:p>
            <a:pPr algn="r" indent="0" marL="0">
              <a:buNone/>
            </a:pPr>
            <a:r>
              <a:rPr lang="en-US" sz="1800" b="1" dirty="0">
                <a:solidFill>
                  <a:srgbClr val="FFFFFF"/>
                </a:solidFill>
                <a:latin typeface="Cambria" pitchFamily="34" charset="0"/>
                <a:ea typeface="Cambria" pitchFamily="34" charset="-122"/>
                <a:cs typeface="Cambria" pitchFamily="34" charset="-120"/>
              </a:rPr>
              <a:t>Rishu Raj</a:t>
            </a:r>
            <a:endParaRPr lang="en-US" sz="1800" dirty="0"/>
          </a:p>
        </p:txBody>
      </p:sp>
      <p:sp>
        <p:nvSpPr>
          <p:cNvPr id="13" name="Text 11"/>
          <p:cNvSpPr/>
          <p:nvPr/>
        </p:nvSpPr>
        <p:spPr>
          <a:xfrm>
            <a:off x="7863840" y="5468112"/>
            <a:ext cx="3657600" cy="320040"/>
          </a:xfrm>
          <a:prstGeom prst="rect">
            <a:avLst/>
          </a:prstGeom>
          <a:noFill/>
          <a:ln/>
        </p:spPr>
        <p:txBody>
          <a:bodyPr wrap="square" lIns="0" tIns="0" rIns="0" bIns="0" rtlCol="0" anchor="ctr"/>
          <a:lstStyle/>
          <a:p>
            <a:pPr algn="r" indent="0" marL="0">
              <a:buNone/>
            </a:pPr>
            <a:r>
              <a:rPr lang="en-US" sz="1200" dirty="0">
                <a:solidFill>
                  <a:srgbClr val="9FC1E8"/>
                </a:solidFill>
                <a:latin typeface="Calibri" pitchFamily="34" charset="0"/>
                <a:ea typeface="Calibri" pitchFamily="34" charset="-122"/>
                <a:cs typeface="Calibri" pitchFamily="34" charset="-120"/>
              </a:rPr>
              <a:t>CS-2341354  |  B.Tech CSE</a:t>
            </a:r>
            <a:endParaRPr lang="en-US" sz="1200" dirty="0"/>
          </a:p>
        </p:txBody>
      </p:sp>
      <p:sp>
        <p:nvSpPr>
          <p:cNvPr id="14" name="Text 12"/>
          <p:cNvSpPr/>
          <p:nvPr/>
        </p:nvSpPr>
        <p:spPr>
          <a:xfrm>
            <a:off x="7863840" y="5779008"/>
            <a:ext cx="3657600" cy="320040"/>
          </a:xfrm>
          <a:prstGeom prst="rect">
            <a:avLst/>
          </a:prstGeom>
          <a:noFill/>
          <a:ln/>
        </p:spPr>
        <p:txBody>
          <a:bodyPr wrap="square" lIns="0" tIns="0" rIns="0" bIns="0" rtlCol="0" anchor="ctr"/>
          <a:lstStyle/>
          <a:p>
            <a:pPr algn="r" indent="0" marL="0">
              <a:buNone/>
            </a:pPr>
            <a:r>
              <a:rPr lang="en-US" sz="1200" dirty="0">
                <a:solidFill>
                  <a:srgbClr val="9FC1E8"/>
                </a:solidFill>
                <a:latin typeface="Calibri" pitchFamily="34" charset="0"/>
                <a:ea typeface="Calibri" pitchFamily="34" charset="-122"/>
                <a:cs typeface="Calibri" pitchFamily="34" charset="-120"/>
              </a:rPr>
              <a:t>IILM University, Greater Noida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Evaluation Report — LeadOne 2.0</dc:title>
  <dc:subject>PptxGenJS Presentation</dc:subject>
  <dc:creator>Rishu Raj</dc:creator>
  <cp:lastModifiedBy>Rishu Raj</cp:lastModifiedBy>
  <cp:revision>1</cp:revision>
  <dcterms:created xsi:type="dcterms:W3CDTF">2026-08-31T02:11:08Z</dcterms:created>
  <dcterms:modified xsi:type="dcterms:W3CDTF">2026-08-31T02:11:08Z</dcterms:modified>
</cp:coreProperties>
</file>