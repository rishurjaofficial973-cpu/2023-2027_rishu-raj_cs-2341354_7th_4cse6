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F1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301" y="672036"/>
            <a:ext cx="16683228" cy="8950966"/>
            <a:chOff x="0" y="0"/>
            <a:chExt cx="22244304" cy="119346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44304" cy="11934698"/>
            </a:xfrm>
            <a:custGeom>
              <a:avLst/>
              <a:gdLst/>
              <a:ahLst/>
              <a:cxnLst/>
              <a:rect r="r" b="b" t="t" l="l"/>
              <a:pathLst>
                <a:path h="11934698" w="22244304">
                  <a:moveTo>
                    <a:pt x="0" y="1989201"/>
                  </a:moveTo>
                  <a:cubicBezTo>
                    <a:pt x="0" y="890524"/>
                    <a:pt x="890524" y="0"/>
                    <a:pt x="1989201" y="0"/>
                  </a:cubicBezTo>
                  <a:lnTo>
                    <a:pt x="20255103" y="0"/>
                  </a:lnTo>
                  <a:cubicBezTo>
                    <a:pt x="21353653" y="0"/>
                    <a:pt x="22244304" y="890524"/>
                    <a:pt x="22244304" y="1989201"/>
                  </a:cubicBezTo>
                  <a:lnTo>
                    <a:pt x="22244304" y="9945497"/>
                  </a:lnTo>
                  <a:cubicBezTo>
                    <a:pt x="22244304" y="11044047"/>
                    <a:pt x="21353780" y="11934698"/>
                    <a:pt x="20255103" y="11934698"/>
                  </a:cubicBezTo>
                  <a:lnTo>
                    <a:pt x="1989201" y="11934698"/>
                  </a:lnTo>
                  <a:cubicBezTo>
                    <a:pt x="890524" y="11934571"/>
                    <a:pt x="0" y="11044047"/>
                    <a:pt x="0" y="9945497"/>
                  </a:cubicBezTo>
                  <a:close/>
                </a:path>
              </a:pathLst>
            </a:custGeom>
            <a:solidFill>
              <a:srgbClr val="10182D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2147483648" y="-2147483648"/>
            <a:ext cx="2147483647" cy="2147483647"/>
            <a:chOff x="0" y="0"/>
            <a:chExt cx="2147483647" cy="2147483647"/>
          </a:xfrm>
        </p:grpSpPr>
        <p:sp>
          <p:nvSpPr>
            <p:cNvPr name="Freeform 7" id="7" descr="iilm_logo.png"/>
            <p:cNvSpPr/>
            <p:nvPr/>
          </p:nvSpPr>
          <p:spPr>
            <a:xfrm flipH="false" flipV="false" rot="0">
              <a:off x="0" y="0"/>
              <a:ext cx="2147483647" cy="2147483647"/>
            </a:xfrm>
            <a:custGeom>
              <a:avLst/>
              <a:gdLst/>
              <a:ahLst/>
              <a:cxnLst/>
              <a:rect r="r" b="b" t="t" l="l"/>
              <a:pathLst>
                <a:path h="2147483647" w="2147483647">
                  <a:moveTo>
                    <a:pt x="0" y="0"/>
                  </a:moveTo>
                  <a:lnTo>
                    <a:pt x="2147483647" y="0"/>
                  </a:lnTo>
                  <a:lnTo>
                    <a:pt x="2147483647" y="2147483647"/>
                  </a:lnTo>
                  <a:lnTo>
                    <a:pt x="0" y="214748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600414" y="1141190"/>
            <a:ext cx="11173720" cy="135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IILM UNIVERSITY, GREATER NOIDA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06B6D4"/>
                </a:solidFill>
                <a:latin typeface="Calibri (MS)"/>
                <a:ea typeface="Calibri (MS)"/>
                <a:cs typeface="Calibri (MS)"/>
                <a:sym typeface="Calibri (MS)"/>
              </a:rPr>
              <a:t>School of Computer Science &amp; Engineering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58370" y="2936948"/>
            <a:ext cx="15585091" cy="2293506"/>
            <a:chOff x="0" y="0"/>
            <a:chExt cx="20780121" cy="30580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80121" cy="3058033"/>
            </a:xfrm>
            <a:custGeom>
              <a:avLst/>
              <a:gdLst/>
              <a:ahLst/>
              <a:cxnLst/>
              <a:rect r="r" b="b" t="t" l="l"/>
              <a:pathLst>
                <a:path h="3058033" w="20780121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20270470" y="0"/>
                  </a:lnTo>
                  <a:cubicBezTo>
                    <a:pt x="20551902" y="0"/>
                    <a:pt x="20780121" y="228219"/>
                    <a:pt x="20780121" y="509651"/>
                  </a:cubicBezTo>
                  <a:lnTo>
                    <a:pt x="20780121" y="2548382"/>
                  </a:lnTo>
                  <a:cubicBezTo>
                    <a:pt x="20780121" y="2829814"/>
                    <a:pt x="20551902" y="3058033"/>
                    <a:pt x="20270470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688297" y="3101035"/>
            <a:ext cx="14925237" cy="193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INTERNSHIP EVALUATION PRESENTATION</a:t>
            </a:r>
          </a:p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LeadOne 2.0: Enterprise Lead Management System, CRM &amp; Cloud Telephony Platform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58370" y="5476389"/>
            <a:ext cx="7578300" cy="3734810"/>
            <a:chOff x="0" y="0"/>
            <a:chExt cx="10104399" cy="49797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04374" cy="4979670"/>
            </a:xfrm>
            <a:custGeom>
              <a:avLst/>
              <a:gdLst/>
              <a:ahLst/>
              <a:cxnLst/>
              <a:rect r="r" b="b" t="t" l="l"/>
              <a:pathLst>
                <a:path h="4979670" w="10104374">
                  <a:moveTo>
                    <a:pt x="0" y="829945"/>
                  </a:moveTo>
                  <a:cubicBezTo>
                    <a:pt x="0" y="371602"/>
                    <a:pt x="371602" y="0"/>
                    <a:pt x="829945" y="0"/>
                  </a:cubicBezTo>
                  <a:lnTo>
                    <a:pt x="9274429" y="0"/>
                  </a:lnTo>
                  <a:cubicBezTo>
                    <a:pt x="9732773" y="0"/>
                    <a:pt x="10104374" y="371602"/>
                    <a:pt x="10104374" y="829945"/>
                  </a:cubicBezTo>
                  <a:lnTo>
                    <a:pt x="10104374" y="4149725"/>
                  </a:lnTo>
                  <a:cubicBezTo>
                    <a:pt x="10104374" y="4608068"/>
                    <a:pt x="9732773" y="4979670"/>
                    <a:pt x="9274429" y="4979670"/>
                  </a:cubicBezTo>
                  <a:lnTo>
                    <a:pt x="829945" y="4979670"/>
                  </a:lnTo>
                  <a:cubicBezTo>
                    <a:pt x="371602" y="4979797"/>
                    <a:pt x="0" y="4608195"/>
                    <a:pt x="0" y="4149725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688297" y="5699579"/>
            <a:ext cx="6918436" cy="32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DETAILS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Name:</a:t>
            </a:r>
            <a:r>
              <a:rPr lang="en-US" sz="1801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RISHU RAJ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Enrollment / Roll No:</a:t>
            </a:r>
            <a:r>
              <a:rPr lang="en-US" sz="18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CS-2341354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 &amp; Semester:</a:t>
            </a:r>
            <a:r>
              <a:rPr lang="en-US" sz="18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B.Tech CSE (4th Sem / 4CSE6)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Batch:</a:t>
            </a:r>
            <a:r>
              <a:rPr lang="en-US" sz="18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2023 – 2027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65170" y="5476389"/>
            <a:ext cx="7578300" cy="3734810"/>
            <a:chOff x="0" y="0"/>
            <a:chExt cx="10104399" cy="49797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04374" cy="4979670"/>
            </a:xfrm>
            <a:custGeom>
              <a:avLst/>
              <a:gdLst/>
              <a:ahLst/>
              <a:cxnLst/>
              <a:rect r="r" b="b" t="t" l="l"/>
              <a:pathLst>
                <a:path h="4979670" w="10104374">
                  <a:moveTo>
                    <a:pt x="0" y="829945"/>
                  </a:moveTo>
                  <a:cubicBezTo>
                    <a:pt x="0" y="371602"/>
                    <a:pt x="371602" y="0"/>
                    <a:pt x="829945" y="0"/>
                  </a:cubicBezTo>
                  <a:lnTo>
                    <a:pt x="9274429" y="0"/>
                  </a:lnTo>
                  <a:cubicBezTo>
                    <a:pt x="9732773" y="0"/>
                    <a:pt x="10104374" y="371602"/>
                    <a:pt x="10104374" y="829945"/>
                  </a:cubicBezTo>
                  <a:lnTo>
                    <a:pt x="10104374" y="4149725"/>
                  </a:lnTo>
                  <a:cubicBezTo>
                    <a:pt x="10104374" y="4608068"/>
                    <a:pt x="9732773" y="4979670"/>
                    <a:pt x="9274429" y="4979670"/>
                  </a:cubicBezTo>
                  <a:lnTo>
                    <a:pt x="829945" y="4979670"/>
                  </a:lnTo>
                  <a:cubicBezTo>
                    <a:pt x="371602" y="4979797"/>
                    <a:pt x="0" y="4608195"/>
                    <a:pt x="0" y="4149725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695097" y="5699579"/>
            <a:ext cx="6918436" cy="32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INTERNSHIP ORGANIZATION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Organization Name:</a:t>
            </a:r>
            <a:r>
              <a:rPr lang="en-US" sz="1801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FinZ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Designation:</a:t>
            </a:r>
            <a:r>
              <a:rPr lang="en-US" sz="18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Full Stack Developer (Intern)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Internship Tenure:</a:t>
            </a:r>
            <a:r>
              <a:rPr lang="en-US" sz="18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18-May-2026 to 18-Aug-2026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Worked On:</a:t>
            </a:r>
            <a:r>
              <a:rPr lang="en-US" sz="1801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LeadOne 2.0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F1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37" y="451856"/>
            <a:ext cx="16105565" cy="50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/ PROJECT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8137" y="866746"/>
            <a:ext cx="16105565" cy="8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Overview &amp; Key 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1811931"/>
            <a:ext cx="16105565" cy="41177"/>
            <a:chOff x="0" y="0"/>
            <a:chExt cx="21474087" cy="54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74049" cy="54864"/>
            </a:xfrm>
            <a:custGeom>
              <a:avLst/>
              <a:gdLst/>
              <a:ahLst/>
              <a:cxnLst/>
              <a:rect r="r" b="b" t="t" l="l"/>
              <a:pathLst>
                <a:path h="54864" w="21474049">
                  <a:moveTo>
                    <a:pt x="0" y="0"/>
                  </a:moveTo>
                  <a:lnTo>
                    <a:pt x="21474049" y="0"/>
                  </a:lnTo>
                  <a:lnTo>
                    <a:pt x="214740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3840" y="2250615"/>
            <a:ext cx="7806157" cy="7303760"/>
            <a:chOff x="0" y="0"/>
            <a:chExt cx="10408209" cy="9738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08158" cy="9738360"/>
            </a:xfrm>
            <a:custGeom>
              <a:avLst/>
              <a:gdLst/>
              <a:ahLst/>
              <a:cxnLst/>
              <a:rect r="r" b="b" t="t" l="l"/>
              <a:pathLst>
                <a:path h="9738360" w="10408158">
                  <a:moveTo>
                    <a:pt x="0" y="1623060"/>
                  </a:moveTo>
                  <a:cubicBezTo>
                    <a:pt x="0" y="726694"/>
                    <a:pt x="726694" y="0"/>
                    <a:pt x="1623060" y="0"/>
                  </a:cubicBezTo>
                  <a:lnTo>
                    <a:pt x="8785098" y="0"/>
                  </a:lnTo>
                  <a:cubicBezTo>
                    <a:pt x="9681464" y="0"/>
                    <a:pt x="10408158" y="726694"/>
                    <a:pt x="10408158" y="1623060"/>
                  </a:cubicBezTo>
                  <a:lnTo>
                    <a:pt x="10408158" y="8115300"/>
                  </a:lnTo>
                  <a:cubicBezTo>
                    <a:pt x="10408158" y="9011666"/>
                    <a:pt x="9681464" y="9738360"/>
                    <a:pt x="8785098" y="9738360"/>
                  </a:cubicBezTo>
                  <a:lnTo>
                    <a:pt x="1623060" y="9738360"/>
                  </a:lnTo>
                  <a:cubicBezTo>
                    <a:pt x="726694" y="9738360"/>
                    <a:pt x="0" y="9011666"/>
                    <a:pt x="0" y="811530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19185" y="3832630"/>
            <a:ext cx="6526075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LEADONE 2.0?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Unified Enterprise Platform: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Developed at FinZ during an 8-week full-stack internship (May–Aug 2026).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Solved: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Replaces fragmented sales software with a single platform integrating lead routing, cloud calls, field GPS tracking, and SLA ticketing.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Stakeholders: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Telecallers, On-ground Field Executives, Team Supervisors, and System Administrators.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 Scale: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High-concurrency enterprise web application backed by Laravel, real-time WebSockets, and Android APIs.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10471" y="2250615"/>
            <a:ext cx="7806157" cy="7303760"/>
            <a:chOff x="0" y="0"/>
            <a:chExt cx="10408209" cy="9738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08158" cy="9738360"/>
            </a:xfrm>
            <a:custGeom>
              <a:avLst/>
              <a:gdLst/>
              <a:ahLst/>
              <a:cxnLst/>
              <a:rect r="r" b="b" t="t" l="l"/>
              <a:pathLst>
                <a:path h="9738360" w="10408158">
                  <a:moveTo>
                    <a:pt x="0" y="1623060"/>
                  </a:moveTo>
                  <a:cubicBezTo>
                    <a:pt x="0" y="726694"/>
                    <a:pt x="726694" y="0"/>
                    <a:pt x="1623060" y="0"/>
                  </a:cubicBezTo>
                  <a:lnTo>
                    <a:pt x="8785098" y="0"/>
                  </a:lnTo>
                  <a:cubicBezTo>
                    <a:pt x="9681464" y="0"/>
                    <a:pt x="10408158" y="726694"/>
                    <a:pt x="10408158" y="1623060"/>
                  </a:cubicBezTo>
                  <a:lnTo>
                    <a:pt x="10408158" y="8115300"/>
                  </a:lnTo>
                  <a:cubicBezTo>
                    <a:pt x="10408158" y="9011666"/>
                    <a:pt x="9681464" y="9738360"/>
                    <a:pt x="8785098" y="9738360"/>
                  </a:cubicBezTo>
                  <a:lnTo>
                    <a:pt x="1623060" y="9738360"/>
                  </a:lnTo>
                  <a:cubicBezTo>
                    <a:pt x="726694" y="9738360"/>
                    <a:pt x="0" y="9011666"/>
                    <a:pt x="0" y="811530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01193" y="3525503"/>
            <a:ext cx="7108673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PROJECT OBJECTIVES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✔ Centralized Lead Tracking: Capture, assign, &amp; track leads across multi-channel sales pipelines.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✔ Cloud Telephony Integration: Live call queue monitoring &amp; CDR webhook processing.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✔ Android SIM Call Logger: Automatic background call duration &amp; status sync for mobile agents.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✔ Geofenced Attendance: GPS check-in/check-out validated against office radius limits.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✔ Helpdesk &amp; SLA Engine: SLA timer countdowns, breach detection, &amp; automated escalation.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✔ Workflow Automation: Custom trigger-action builder for automated system notifications.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F1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37" y="451856"/>
            <a:ext cx="16105565" cy="50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/ TECH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8137" y="866746"/>
            <a:ext cx="16105565" cy="8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 &amp; High-Level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1811931"/>
            <a:ext cx="16105565" cy="41177"/>
            <a:chOff x="0" y="0"/>
            <a:chExt cx="21474087" cy="54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74049" cy="54864"/>
            </a:xfrm>
            <a:custGeom>
              <a:avLst/>
              <a:gdLst/>
              <a:ahLst/>
              <a:cxnLst/>
              <a:rect r="r" b="b" t="t" l="l"/>
              <a:pathLst>
                <a:path h="54864" w="21474049">
                  <a:moveTo>
                    <a:pt x="0" y="0"/>
                  </a:moveTo>
                  <a:lnTo>
                    <a:pt x="21474049" y="0"/>
                  </a:lnTo>
                  <a:lnTo>
                    <a:pt x="214740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3840" y="2250615"/>
            <a:ext cx="6205623" cy="7303760"/>
            <a:chOff x="0" y="0"/>
            <a:chExt cx="8274164" cy="9738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74177" cy="9738361"/>
            </a:xfrm>
            <a:custGeom>
              <a:avLst/>
              <a:gdLst/>
              <a:ahLst/>
              <a:cxnLst/>
              <a:rect r="r" b="b" t="t" l="l"/>
              <a:pathLst>
                <a:path h="9738361" w="8274177">
                  <a:moveTo>
                    <a:pt x="0" y="1379093"/>
                  </a:moveTo>
                  <a:cubicBezTo>
                    <a:pt x="0" y="617474"/>
                    <a:pt x="617474" y="0"/>
                    <a:pt x="1379093" y="0"/>
                  </a:cubicBezTo>
                  <a:lnTo>
                    <a:pt x="6895084" y="0"/>
                  </a:lnTo>
                  <a:cubicBezTo>
                    <a:pt x="7656703" y="0"/>
                    <a:pt x="8274177" y="617474"/>
                    <a:pt x="8274177" y="1379093"/>
                  </a:cubicBezTo>
                  <a:lnTo>
                    <a:pt x="8274177" y="8359267"/>
                  </a:lnTo>
                  <a:cubicBezTo>
                    <a:pt x="8274177" y="9120887"/>
                    <a:pt x="7656702" y="9738361"/>
                    <a:pt x="6895084" y="9738361"/>
                  </a:cubicBezTo>
                  <a:lnTo>
                    <a:pt x="1379093" y="9738361"/>
                  </a:lnTo>
                  <a:cubicBezTo>
                    <a:pt x="617474" y="9738360"/>
                    <a:pt x="0" y="9120886"/>
                    <a:pt x="0" y="8359267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8B5CF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3944" y="3841771"/>
            <a:ext cx="7189353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8B5C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 USED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Laravel 13 (PHP 8.3+), Eloquent ORM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Laravel Reverb WebSockets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Alpine.js &amp; Tailwind CSS 4.0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 &amp; Security: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Laravel Sanctum REST APIs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Bundler: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Vite 8 &amp; Node.js pipeline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MySQL 8.0 / PostgreSQL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147483648" y="-2147483648"/>
            <a:ext cx="2147483647" cy="2147483647"/>
            <a:chOff x="0" y="0"/>
            <a:chExt cx="2147483647" cy="2147483647"/>
          </a:xfrm>
        </p:grpSpPr>
        <p:sp>
          <p:nvSpPr>
            <p:cNvPr name="Freeform 12" id="12" descr="fig_4_1_architecture.png"/>
            <p:cNvSpPr/>
            <p:nvPr/>
          </p:nvSpPr>
          <p:spPr>
            <a:xfrm flipH="false" flipV="false" rot="0">
              <a:off x="0" y="0"/>
              <a:ext cx="2147483647" cy="2147483647"/>
            </a:xfrm>
            <a:custGeom>
              <a:avLst/>
              <a:gdLst/>
              <a:ahLst/>
              <a:cxnLst/>
              <a:rect r="r" b="b" t="t" l="l"/>
              <a:pathLst>
                <a:path h="2147483647" w="2147483647">
                  <a:moveTo>
                    <a:pt x="0" y="0"/>
                  </a:moveTo>
                  <a:lnTo>
                    <a:pt x="2147483647" y="0"/>
                  </a:lnTo>
                  <a:lnTo>
                    <a:pt x="2147483647" y="2147483647"/>
                  </a:lnTo>
                  <a:lnTo>
                    <a:pt x="0" y="214748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F1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37" y="451856"/>
            <a:ext cx="16105565" cy="50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/ SYSTEM MODULES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8137" y="866746"/>
            <a:ext cx="16105565" cy="8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7 Functional Modules of LeadOne 2.0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1811931"/>
            <a:ext cx="16105565" cy="41177"/>
            <a:chOff x="0" y="0"/>
            <a:chExt cx="21474087" cy="54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74049" cy="54864"/>
            </a:xfrm>
            <a:custGeom>
              <a:avLst/>
              <a:gdLst/>
              <a:ahLst/>
              <a:cxnLst/>
              <a:rect r="r" b="b" t="t" l="l"/>
              <a:pathLst>
                <a:path h="54864" w="21474049">
                  <a:moveTo>
                    <a:pt x="0" y="0"/>
                  </a:moveTo>
                  <a:lnTo>
                    <a:pt x="21474049" y="0"/>
                  </a:lnTo>
                  <a:lnTo>
                    <a:pt x="214740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147483648" y="-2147483648"/>
            <a:ext cx="2147483647" cy="2147483647"/>
            <a:chOff x="0" y="0"/>
            <a:chExt cx="2147483647" cy="2147483647"/>
          </a:xfrm>
        </p:grpSpPr>
        <p:sp>
          <p:nvSpPr>
            <p:cNvPr name="Freeform 9" id="9" descr="fig_4_2_modules.png"/>
            <p:cNvSpPr/>
            <p:nvPr/>
          </p:nvSpPr>
          <p:spPr>
            <a:xfrm flipH="false" flipV="false" rot="0">
              <a:off x="0" y="0"/>
              <a:ext cx="2147483647" cy="2147483647"/>
            </a:xfrm>
            <a:custGeom>
              <a:avLst/>
              <a:gdLst/>
              <a:ahLst/>
              <a:cxnLst/>
              <a:rect r="r" b="b" t="t" l="l"/>
              <a:pathLst>
                <a:path h="2147483647" w="2147483647">
                  <a:moveTo>
                    <a:pt x="0" y="0"/>
                  </a:moveTo>
                  <a:lnTo>
                    <a:pt x="2147483647" y="0"/>
                  </a:lnTo>
                  <a:lnTo>
                    <a:pt x="2147483647" y="2147483647"/>
                  </a:lnTo>
                  <a:lnTo>
                    <a:pt x="0" y="214748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24637" y="2250615"/>
            <a:ext cx="7166496" cy="7303760"/>
            <a:chOff x="0" y="0"/>
            <a:chExt cx="9555328" cy="97383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55353" cy="9738360"/>
            </a:xfrm>
            <a:custGeom>
              <a:avLst/>
              <a:gdLst/>
              <a:ahLst/>
              <a:cxnLst/>
              <a:rect r="r" b="b" t="t" l="l"/>
              <a:pathLst>
                <a:path h="9738360" w="9555353">
                  <a:moveTo>
                    <a:pt x="0" y="1592580"/>
                  </a:moveTo>
                  <a:cubicBezTo>
                    <a:pt x="0" y="712978"/>
                    <a:pt x="712978" y="0"/>
                    <a:pt x="1592580" y="0"/>
                  </a:cubicBezTo>
                  <a:lnTo>
                    <a:pt x="7962773" y="0"/>
                  </a:lnTo>
                  <a:cubicBezTo>
                    <a:pt x="8842375" y="0"/>
                    <a:pt x="9555353" y="712978"/>
                    <a:pt x="9555353" y="1592580"/>
                  </a:cubicBezTo>
                  <a:lnTo>
                    <a:pt x="9555353" y="8145780"/>
                  </a:lnTo>
                  <a:cubicBezTo>
                    <a:pt x="9555353" y="9025382"/>
                    <a:pt x="8842375" y="9738360"/>
                    <a:pt x="7962773" y="9738360"/>
                  </a:cubicBezTo>
                  <a:lnTo>
                    <a:pt x="1592580" y="9738360"/>
                  </a:lnTo>
                  <a:cubicBezTo>
                    <a:pt x="712978" y="9738360"/>
                    <a:pt x="0" y="9025382"/>
                    <a:pt x="0" y="814578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980829" y="4173798"/>
            <a:ext cx="6918436" cy="710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 MODULAR COMPONENTS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1. Lead Engine: Intake, auto-assignment &amp; stage tracking.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2. Cloud Telephony: Inbound/outbound queues &amp; CDR webhooks.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3. Mobile API &amp; Logger: Android background call log sync.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4. Geofenced Attendance: GPS check-in/out &amp; field visit logs.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5. Helpdesk &amp; SLA Engine: SLA timers &amp; supervisor escalation.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6. Agent Performance: Break tracking &amp; violation alerts.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7. Automation Engine: Trigger-action workflow builder.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F1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37" y="451856"/>
            <a:ext cx="16105565" cy="50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/ WORKFLOW ENGINE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8137" y="866746"/>
            <a:ext cx="16105565" cy="8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Lead Lifecycle &amp; Telephony Workflow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1811931"/>
            <a:ext cx="16105565" cy="41177"/>
            <a:chOff x="0" y="0"/>
            <a:chExt cx="21474087" cy="54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74049" cy="54864"/>
            </a:xfrm>
            <a:custGeom>
              <a:avLst/>
              <a:gdLst/>
              <a:ahLst/>
              <a:cxnLst/>
              <a:rect r="r" b="b" t="t" l="l"/>
              <a:pathLst>
                <a:path h="54864" w="21474049">
                  <a:moveTo>
                    <a:pt x="0" y="0"/>
                  </a:moveTo>
                  <a:lnTo>
                    <a:pt x="21474049" y="0"/>
                  </a:lnTo>
                  <a:lnTo>
                    <a:pt x="214740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147483648" y="-2147483648"/>
            <a:ext cx="2147483647" cy="2147483647"/>
            <a:chOff x="0" y="0"/>
            <a:chExt cx="2147483647" cy="2147483647"/>
          </a:xfrm>
        </p:grpSpPr>
        <p:sp>
          <p:nvSpPr>
            <p:cNvPr name="Freeform 9" id="9" descr="fig_4_3_workflow.png"/>
            <p:cNvSpPr/>
            <p:nvPr/>
          </p:nvSpPr>
          <p:spPr>
            <a:xfrm flipH="false" flipV="false" rot="0">
              <a:off x="0" y="0"/>
              <a:ext cx="2147483647" cy="2147483647"/>
            </a:xfrm>
            <a:custGeom>
              <a:avLst/>
              <a:gdLst/>
              <a:ahLst/>
              <a:cxnLst/>
              <a:rect r="r" b="b" t="t" l="l"/>
              <a:pathLst>
                <a:path h="2147483647" w="2147483647">
                  <a:moveTo>
                    <a:pt x="0" y="0"/>
                  </a:moveTo>
                  <a:lnTo>
                    <a:pt x="2147483647" y="0"/>
                  </a:lnTo>
                  <a:lnTo>
                    <a:pt x="2147483647" y="2147483647"/>
                  </a:lnTo>
                  <a:lnTo>
                    <a:pt x="0" y="214748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3840" y="6574526"/>
            <a:ext cx="5030619" cy="2979839"/>
            <a:chOff x="0" y="0"/>
            <a:chExt cx="6707492" cy="39731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07505" cy="3973068"/>
            </a:xfrm>
            <a:custGeom>
              <a:avLst/>
              <a:gdLst/>
              <a:ahLst/>
              <a:cxnLst/>
              <a:rect r="r" b="b" t="t" l="l"/>
              <a:pathLst>
                <a:path h="3973068" w="6707505">
                  <a:moveTo>
                    <a:pt x="0" y="662178"/>
                  </a:moveTo>
                  <a:cubicBezTo>
                    <a:pt x="0" y="296418"/>
                    <a:pt x="296418" y="0"/>
                    <a:pt x="662178" y="0"/>
                  </a:cubicBezTo>
                  <a:lnTo>
                    <a:pt x="6045327" y="0"/>
                  </a:lnTo>
                  <a:cubicBezTo>
                    <a:pt x="6411087" y="0"/>
                    <a:pt x="6707505" y="296418"/>
                    <a:pt x="6707505" y="662178"/>
                  </a:cubicBezTo>
                  <a:lnTo>
                    <a:pt x="6707505" y="3310890"/>
                  </a:lnTo>
                  <a:cubicBezTo>
                    <a:pt x="6707505" y="3676650"/>
                    <a:pt x="6411087" y="3973068"/>
                    <a:pt x="6045327" y="3973068"/>
                  </a:cubicBezTo>
                  <a:lnTo>
                    <a:pt x="662178" y="3973068"/>
                  </a:lnTo>
                  <a:cubicBezTo>
                    <a:pt x="296418" y="3973068"/>
                    <a:pt x="0" y="3676650"/>
                    <a:pt x="0" y="331089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31900" y="7109885"/>
            <a:ext cx="4782560" cy="276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Lead Capture &amp; Routing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Multi-channel intake (web, API, phone) with automatic deduplication &amp; round-robin agent routing.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34925" y="6574526"/>
            <a:ext cx="5030619" cy="2979839"/>
            <a:chOff x="0" y="0"/>
            <a:chExt cx="6707492" cy="39731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7505" cy="3973068"/>
            </a:xfrm>
            <a:custGeom>
              <a:avLst/>
              <a:gdLst/>
              <a:ahLst/>
              <a:cxnLst/>
              <a:rect r="r" b="b" t="t" l="l"/>
              <a:pathLst>
                <a:path h="3973068" w="6707505">
                  <a:moveTo>
                    <a:pt x="0" y="662178"/>
                  </a:moveTo>
                  <a:cubicBezTo>
                    <a:pt x="0" y="296418"/>
                    <a:pt x="296418" y="0"/>
                    <a:pt x="662178" y="0"/>
                  </a:cubicBezTo>
                  <a:lnTo>
                    <a:pt x="6045327" y="0"/>
                  </a:lnTo>
                  <a:cubicBezTo>
                    <a:pt x="6411087" y="0"/>
                    <a:pt x="6707505" y="296418"/>
                    <a:pt x="6707505" y="662178"/>
                  </a:cubicBezTo>
                  <a:lnTo>
                    <a:pt x="6707505" y="3310890"/>
                  </a:lnTo>
                  <a:cubicBezTo>
                    <a:pt x="6707505" y="3676650"/>
                    <a:pt x="6411087" y="3973068"/>
                    <a:pt x="6045327" y="3973068"/>
                  </a:cubicBezTo>
                  <a:lnTo>
                    <a:pt x="662178" y="3973068"/>
                  </a:lnTo>
                  <a:cubicBezTo>
                    <a:pt x="296418" y="3973068"/>
                    <a:pt x="0" y="3676650"/>
                    <a:pt x="0" y="331089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759645" y="7109885"/>
            <a:ext cx="4782560" cy="276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Activity &amp; Call Logging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Unified interaction timeline logging call durations via Cloud Telephony &amp; Android Call Logger APIs.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86009" y="6574526"/>
            <a:ext cx="5030619" cy="2979839"/>
            <a:chOff x="0" y="0"/>
            <a:chExt cx="6707492" cy="39731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07505" cy="3973068"/>
            </a:xfrm>
            <a:custGeom>
              <a:avLst/>
              <a:gdLst/>
              <a:ahLst/>
              <a:cxnLst/>
              <a:rect r="r" b="b" t="t" l="l"/>
              <a:pathLst>
                <a:path h="3973068" w="6707505">
                  <a:moveTo>
                    <a:pt x="0" y="662178"/>
                  </a:moveTo>
                  <a:cubicBezTo>
                    <a:pt x="0" y="296418"/>
                    <a:pt x="296418" y="0"/>
                    <a:pt x="662178" y="0"/>
                  </a:cubicBezTo>
                  <a:lnTo>
                    <a:pt x="6045327" y="0"/>
                  </a:lnTo>
                  <a:cubicBezTo>
                    <a:pt x="6411087" y="0"/>
                    <a:pt x="6707505" y="296418"/>
                    <a:pt x="6707505" y="662178"/>
                  </a:cubicBezTo>
                  <a:lnTo>
                    <a:pt x="6707505" y="3310890"/>
                  </a:lnTo>
                  <a:cubicBezTo>
                    <a:pt x="6707505" y="3676650"/>
                    <a:pt x="6411087" y="3973068"/>
                    <a:pt x="6045327" y="3973068"/>
                  </a:cubicBezTo>
                  <a:lnTo>
                    <a:pt x="662178" y="3973068"/>
                  </a:lnTo>
                  <a:cubicBezTo>
                    <a:pt x="296418" y="3973068"/>
                    <a:pt x="0" y="3676650"/>
                    <a:pt x="0" y="331089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10039" y="7109885"/>
            <a:ext cx="4782560" cy="276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Stage Conversion &amp; SLA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Stage progression from New Lead -&gt; Contacted -&gt; Converted, backed by SLA response timers.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F1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37" y="451856"/>
            <a:ext cx="16105565" cy="50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/ MY WORK &amp;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8137" y="866746"/>
            <a:ext cx="16105565" cy="8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Contributions &amp; Technical Challenges Solved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1811931"/>
            <a:ext cx="16105565" cy="41177"/>
            <a:chOff x="0" y="0"/>
            <a:chExt cx="21474087" cy="54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74049" cy="54864"/>
            </a:xfrm>
            <a:custGeom>
              <a:avLst/>
              <a:gdLst/>
              <a:ahLst/>
              <a:cxnLst/>
              <a:rect r="r" b="b" t="t" l="l"/>
              <a:pathLst>
                <a:path h="54864" w="21474049">
                  <a:moveTo>
                    <a:pt x="0" y="0"/>
                  </a:moveTo>
                  <a:lnTo>
                    <a:pt x="21474049" y="0"/>
                  </a:lnTo>
                  <a:lnTo>
                    <a:pt x="214740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3840" y="2250615"/>
            <a:ext cx="7806157" cy="7303760"/>
            <a:chOff x="0" y="0"/>
            <a:chExt cx="10408209" cy="9738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08158" cy="9738360"/>
            </a:xfrm>
            <a:custGeom>
              <a:avLst/>
              <a:gdLst/>
              <a:ahLst/>
              <a:cxnLst/>
              <a:rect r="r" b="b" t="t" l="l"/>
              <a:pathLst>
                <a:path h="9738360" w="10408158">
                  <a:moveTo>
                    <a:pt x="0" y="1623060"/>
                  </a:moveTo>
                  <a:cubicBezTo>
                    <a:pt x="0" y="726694"/>
                    <a:pt x="726694" y="0"/>
                    <a:pt x="1623060" y="0"/>
                  </a:cubicBezTo>
                  <a:lnTo>
                    <a:pt x="8785098" y="0"/>
                  </a:lnTo>
                  <a:cubicBezTo>
                    <a:pt x="9681464" y="0"/>
                    <a:pt x="10408158" y="726694"/>
                    <a:pt x="10408158" y="1623060"/>
                  </a:cubicBezTo>
                  <a:lnTo>
                    <a:pt x="10408158" y="8115300"/>
                  </a:lnTo>
                  <a:cubicBezTo>
                    <a:pt x="10408158" y="9011666"/>
                    <a:pt x="9681464" y="9738360"/>
                    <a:pt x="8785098" y="9738360"/>
                  </a:cubicBezTo>
                  <a:lnTo>
                    <a:pt x="1623060" y="9738360"/>
                  </a:lnTo>
                  <a:cubicBezTo>
                    <a:pt x="726694" y="9738360"/>
                    <a:pt x="0" y="9011666"/>
                    <a:pt x="0" y="811530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31890" y="2859676"/>
            <a:ext cx="7225193" cy="2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DIRECT CONTRIBUTIONS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REST API Controller Scaffolding: Built endpoints for Lead Management &amp; SLA Helpdesk modules.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Real-Time Event Streaming: Configured Laravel Reverb listeners for agent break tracking &amp; status sync.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Authentication Middleware: Implemented Sanctum token auth for mobile Android app communication.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Schema &amp; Migration Design: Structured relational database schemas &amp; Eloquent ORM model relations.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End-to-End API Testing: Verified API payload validation, status codes, and error trace handling.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10471" y="2250615"/>
            <a:ext cx="7806157" cy="7303760"/>
            <a:chOff x="0" y="0"/>
            <a:chExt cx="10408209" cy="9738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08158" cy="9738360"/>
            </a:xfrm>
            <a:custGeom>
              <a:avLst/>
              <a:gdLst/>
              <a:ahLst/>
              <a:cxnLst/>
              <a:rect r="r" b="b" t="t" l="l"/>
              <a:pathLst>
                <a:path h="9738360" w="10408158">
                  <a:moveTo>
                    <a:pt x="0" y="1623060"/>
                  </a:moveTo>
                  <a:cubicBezTo>
                    <a:pt x="0" y="726694"/>
                    <a:pt x="726694" y="0"/>
                    <a:pt x="1623060" y="0"/>
                  </a:cubicBezTo>
                  <a:lnTo>
                    <a:pt x="8785098" y="0"/>
                  </a:lnTo>
                  <a:cubicBezTo>
                    <a:pt x="9681464" y="0"/>
                    <a:pt x="10408158" y="726694"/>
                    <a:pt x="10408158" y="1623060"/>
                  </a:cubicBezTo>
                  <a:lnTo>
                    <a:pt x="10408158" y="8115300"/>
                  </a:lnTo>
                  <a:cubicBezTo>
                    <a:pt x="10408158" y="9011666"/>
                    <a:pt x="9681464" y="9738360"/>
                    <a:pt x="8785098" y="9738360"/>
                  </a:cubicBezTo>
                  <a:lnTo>
                    <a:pt x="1623060" y="9738360"/>
                  </a:lnTo>
                  <a:cubicBezTo>
                    <a:pt x="726694" y="9738360"/>
                    <a:pt x="0" y="9011666"/>
                    <a:pt x="0" y="811530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F59E0B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01193" y="2859676"/>
            <a:ext cx="7158610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&amp; RESOLUTIONS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Role Access Control (RBAC):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Enforced Laravel Policy gates &amp; Sanctum token scopes for Agents, Supervisors, &amp; Admins.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Real-Time Dual State Sync: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Solved state desync between web dashboard &amp; mobile clients via Reverb WebSockets.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High Telephony Webhook Load: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Queued incoming telephony webhooks asynchronously using Laravel Jobs.</a:t>
            </a:r>
          </a:p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GPS Geofence Jitter:</a:t>
            </a:r>
            <a:r>
              <a:rPr lang="en-US" sz="1576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 Implemented Haversine distance formula with threshold radius for accurate field check-in.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F1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6913" y="1495639"/>
            <a:ext cx="7806157" cy="7303760"/>
            <a:chOff x="0" y="0"/>
            <a:chExt cx="10408209" cy="97383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8158" cy="9738360"/>
            </a:xfrm>
            <a:custGeom>
              <a:avLst/>
              <a:gdLst/>
              <a:ahLst/>
              <a:cxnLst/>
              <a:rect r="r" b="b" t="t" l="l"/>
              <a:pathLst>
                <a:path h="9738360" w="10408158">
                  <a:moveTo>
                    <a:pt x="0" y="1623060"/>
                  </a:moveTo>
                  <a:cubicBezTo>
                    <a:pt x="0" y="726694"/>
                    <a:pt x="726694" y="0"/>
                    <a:pt x="1623060" y="0"/>
                  </a:cubicBezTo>
                  <a:lnTo>
                    <a:pt x="8785098" y="0"/>
                  </a:lnTo>
                  <a:cubicBezTo>
                    <a:pt x="9681464" y="0"/>
                    <a:pt x="10408158" y="726694"/>
                    <a:pt x="10408158" y="1623060"/>
                  </a:cubicBezTo>
                  <a:lnTo>
                    <a:pt x="10408158" y="8115300"/>
                  </a:lnTo>
                  <a:cubicBezTo>
                    <a:pt x="10408158" y="9011666"/>
                    <a:pt x="9681464" y="9738360"/>
                    <a:pt x="8785098" y="9738360"/>
                  </a:cubicBezTo>
                  <a:lnTo>
                    <a:pt x="1623060" y="9738360"/>
                  </a:lnTo>
                  <a:cubicBezTo>
                    <a:pt x="726694" y="9738360"/>
                    <a:pt x="0" y="9011666"/>
                    <a:pt x="0" y="8115300"/>
                  </a:cubicBezTo>
                  <a:close/>
                </a:path>
              </a:pathLst>
            </a:custGeom>
            <a:solidFill>
              <a:srgbClr val="151E34"/>
            </a:solidFill>
            <a:ln w="28597" cap="sq">
              <a:solidFill>
                <a:srgbClr val="F59E0B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448713" y="4274503"/>
            <a:ext cx="688255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DAHTyp8xmh8</dc:identifier>
  <dcterms:modified xsi:type="dcterms:W3CDTF">2011-08-01T06:04:30Z</dcterms:modified>
  <cp:revision>1</cp:revision>
  <dc:title>Internship_Presentation_Rishu_Raj.pptx</dc:title>
</cp:coreProperties>
</file>